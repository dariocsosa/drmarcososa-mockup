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Guía para el profesional. Son medicamentos de receta; no se venden desde este sitio.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péptido es una cadena corta de aminoácidos. Aquí solo hablamos de los registrados para obesidad.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Complemento del plan alimentario y la actividad física, no su reemplazo.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Marcar que el punto de la sensibilidad a la leptina es una hipótesis; la presentación no trae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Obesidad es enfermedad crónica; evaluar riesgo, no solo IMC.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registros cambian: verificar siempre en la agencia nacional. Las notas de prensa sobre Colombia no son concluyentes.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varía de persona 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Semaglutida además redujo eventos cardiovasculares en el ensayo SELECT (PMID 37952131).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titula de forma gradual para reducir las molestias digestivas. Verificar la ficha del país.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mismo día de cada semana, con o sin comida. Si no tolera, esperar 4 semanas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Elegir la dosis según respuesta y tolerancia.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Evaluar a las 16 semanas: si no bajó al menos 4 % del peso inicial, la ficha indica suspender.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Retatrutida está en investigación. Los péptidos de GH no tienen indicación en obesidad.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está aprobada en ningún país; Lilly anunció que la presentará a la FDA en el primer trimestre de 2027. Presentar siempre las dos lecturas con su método: son resultados de ensayos, no lo que se espera de una persona. Las cifras del estimando de eficacia son las de la diapositiva 74 del Dr. Marco; las de régimen de tratamiento vienen de una reseña y hay que confirmarlas cuando se publique el artículo. La dosis de mantenimiento de 4 mg de esa diapositiva no está respaldada.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Aún no hay seguridad a muy largo plazo. Sin pauta de uso fuera de ensayos. Los productos que circulan sin registro no tienen garantía de contenido ni de esterilidad.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respaldada para cuidar el músculo es la proteína y el entrenamiento de fuerza. Dosis de tesamorelina vigentes: ver la ficha.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contraindicaciones comunes y varias precauciones.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tres llevan advertencia en recuadro por tumores de células C de la tiroides en roedores. En humanos no se sabe. La calcitonina o la ecografía rutinarias tienen valor incierto.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anticonceptivos orales y tirzepatida: método adicional al empezar y al subir de dosis. Consultar la ficha.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Entregar esta lista por escrito al paciente.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hay sospecha de pancreatitis: suspender de inmediato y no reiniciar si se confirma.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dejaron fuera de esta diapositiva los esquemas de sueroterapia y los péptidos sin registro que la presentación incluye en cada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Entregar esta lista por escrito al paciente.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EASO, EFAD y ECPO (2026); comunicado conjunto de 2025 de sociedades de medicina del estilo de vida y nutrición. No hay respaldo para sustituir esto con péptidos de 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usar versiones preparadas, de investigación ni compradas por internet. Seguimiento de peso, presión, glucosa, riñón y salud 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 declaración de vínculos.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Leer la declaración sin prisa.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r-marco-sosa-1000.jpg"/>
          <p:cNvPicPr>
            <a:picLocks noChangeAspect="1"/>
          </p:cNvPicPr>
          <p:nvPr/>
        </p:nvPicPr>
        <p:blipFill>
          <a:blip r:embed="rId2"/>
          <a:srcRect l="6808" r="6808"/>
          <a:stretch>
            <a:fillRect/>
          </a:stretch>
        </p:blipFill>
        <p:spPr>
          <a:xfrm>
            <a:off x="7452360" y="0"/>
            <a:ext cx="473933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52360" y="0"/>
            <a:ext cx="73152" cy="6858000"/>
          </a:xfrm>
          <a:prstGeom prst="rect">
            <a:avLst/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40080"/>
            <a:ext cx="3994647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399464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MASTERCLASS GRATUITA EN VIVO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BAFA4"/>
                </a:solidFill>
                <a:latin typeface="Archivo"/>
              </a:rPr>
              <a:t>Solo medicamentos con registro sanitario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64922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4AA18"/>
                </a:solidFill>
                <a:latin typeface="Fraunces"/>
              </a:rPr>
              <a:t>Péptidos</a:t>
            </a:r>
            <a:r>
              <a:rPr sz="4400" b="1" i="0">
                <a:solidFill>
                  <a:srgbClr val="FFF9EE"/>
                </a:solidFill>
                <a:latin typeface="Fraunces"/>
              </a:rPr>
              <a:t> en sobrepeso y obesidad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6309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Guía de manejo para el médico que prescribe: cómo funcionan, dosis, seguridad y uso.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5486400"/>
            <a:ext cx="1051560" cy="1051560"/>
          </a:xfrm>
          <a:prstGeom prst="ellipse">
            <a:avLst/>
          </a:prstGeom>
          <a:solidFill>
            <a:srgbClr val="FFF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llo-redon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957" y="5522976"/>
            <a:ext cx="733806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39" y="559612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9EE"/>
                </a:solidFill>
                <a:latin typeface="Archivo"/>
              </a:rPr>
              <a:t>Dr. Marco Sosa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9EE"/>
                </a:solidFill>
                <a:latin typeface="Archivo"/>
              </a:rPr>
              <a:t>Medicina Integrativa · Registro médico 050330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737360"/>
            <a:ext cx="82296" cy="2743200"/>
          </a:xfrm>
          <a:prstGeom prst="rect">
            <a:avLst/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24128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9EE"/>
                </a:solidFill>
                <a:latin typeface="Fraunces"/>
              </a:rPr>
              <a:t>Estos péptidos </a:t>
            </a:r>
            <a:r>
              <a:rPr sz="4000" b="1" i="0">
                <a:solidFill>
                  <a:srgbClr val="E4AA18"/>
                </a:solidFill>
                <a:latin typeface="Fraunces"/>
              </a:rPr>
              <a:t>imitan</a:t>
            </a:r>
            <a:r>
              <a:rPr sz="4000" b="1" i="0">
                <a:solidFill>
                  <a:srgbClr val="FFF9EE"/>
                </a:solidFill>
                <a:latin typeface="Fraunces"/>
              </a:rPr>
              <a:t> hormonas del intestino.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8348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Semaglutida y liraglutida activan el receptor de GLP-1. Tirzepatida activa GLP-1 y GIP.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727484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7274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CÓMO FUNCIONAN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Tres efectos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73F33"/>
                </a:solidFill>
                <a:latin typeface="Archivo"/>
              </a:rPr>
              <a:t>Más saciedad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66466"/>
            <a:ext cx="2954426" cy="21816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Actúan en el hipotálamo: menos apetito y menos antojos.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73F33"/>
                </a:solidFill>
                <a:latin typeface="Archivo"/>
              </a:rPr>
              <a:t>Estómago más lento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66466"/>
            <a:ext cx="2954426" cy="21816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El vaciamiento gástrico tarda más: la llenura dura.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73F33"/>
                </a:solidFill>
                <a:latin typeface="Archivo"/>
              </a:rPr>
              <a:t>Insulina y glucagón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66466"/>
            <a:ext cx="2954426" cy="21816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Más insulina si la glucosa está alta y menos glucagón.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fichas oficiales de la FDA (Wegovy, Zepbound, Saxenda) y ensayos STEP 1, SURMOUNT-1 y SCALE.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12177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2177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SEGÚN EL DR. 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GLP-1 y leptina trabajan juntos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73F33"/>
                </a:solidFill>
                <a:latin typeface="Fraunces"/>
              </a:rPr>
              <a:t>En la obesidad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3017520"/>
            <a:ext cx="4724247" cy="0"/>
          </a:xfrm>
          <a:prstGeom prst="line">
            <a:avLst/>
          </a:prstGeom>
          <a:ln w="1270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Leptina alta, con resistencia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Menos GLP-1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El cerebro deja de sentir saciedad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1F5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9EE"/>
                </a:solidFill>
                <a:latin typeface="Fraunces"/>
              </a:rPr>
              <a:t>Con análogos de GLP-1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53047" y="3017520"/>
            <a:ext cx="4724248" cy="0"/>
          </a:xfrm>
          <a:prstGeom prst="line">
            <a:avLst/>
          </a:prstGeom>
          <a:ln w="1270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53047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Se amplifica la señal de saciedad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Se plantea mejor sensibilidad a la leptina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Contrarrestan la señal de «hambruna» al bajar de peso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 Sosa, diap. 51 a 59. La mejora de la sensibilidad a la leptina es una hipótesis.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333195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33319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PARA QUIÉN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Indicación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2199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IMC de 30 o más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24027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3554C"/>
                </a:solidFill>
                <a:latin typeface="Archivo"/>
              </a:rPr>
              <a:t>O de 27 o más con una enfermedad asociada.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008375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3063239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09067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Con un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0895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3554C"/>
                </a:solidFill>
                <a:latin typeface="Archivo"/>
              </a:rPr>
              <a:t>Alimentación con menos calorías y más actividad física.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877056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9319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5935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Antes de indicar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97763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3554C"/>
                </a:solidFill>
                <a:latin typeface="Archivo"/>
              </a:rPr>
              <a:t>Historia, glucosa, HbA1c, lípidos, riñón, hígado y TSH.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745736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80060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2803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Antecedentes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846320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3554C"/>
                </a:solidFill>
                <a:latin typeface="Archivo"/>
              </a:rPr>
              <a:t>Revisar tiroides personal o familiar y medicamentos.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fichas oficiales de la FDA (Wegovy, Zepbound, Saxenda) y ensayos STEP 1, SURMOUNT-1 y SCALE.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51606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51606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PANORAMA INTERNACIONAL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Qué dicen las agencias y las guías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OMS (dic. 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06522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Recomienda de forma condicional GLP-1 a largo plazo con IMC de 30 o más.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FDA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06522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Semaglutida, tirzepatida y liraglutida con indicación para peso.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Unión Europea (EMA)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06522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Mounjaro autorizado para peso; NAION: efecto muy raro de la semaglutida.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71416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Reino Unido (NICE)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163820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IMC de 35 o más con comorbilidad; semaglutida hasta 2 años.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2602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8634" y="4471416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Canadá, Japón y Australia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8634" y="5163820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Wegovy y tirzepatida aprobados para obesidad.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5124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1156" y="4471416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Colombia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1156" y="5163820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Confirmar el registro del INVIMA del producto exacto.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Fuentes: OMS 2025, FDA, EMA, NICE TA875 y TA1026, Health Canada, PMDA y TGA. Ver bibliografía.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333195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33319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Semaglutida en el ensayo STEP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4754880" cy="3383280"/>
          </a:xfrm>
          <a:prstGeom prst="roundRect">
            <a:avLst>
              <a:gd name="adj" fmla="val 216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8800" b="1" i="0">
                <a:solidFill>
                  <a:srgbClr val="1F5142"/>
                </a:solidFill>
                <a:latin typeface="Fraunces"/>
              </a:rPr>
              <a:t>≈15 %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pérdida media del peso a 68 semanas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423160"/>
            <a:ext cx="560801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5000"/>
              </a:lnSpc>
              <a:spcAft>
                <a:spcPts val="1100"/>
              </a:spcAft>
              <a:buClr>
                <a:srgbClr val="1F5142"/>
              </a:buClr>
              <a:buFont typeface="Arial"/>
              <a:buChar char="■"/>
            </a:pPr>
            <a:r>
              <a:rPr sz="1800" b="0" i="0">
                <a:solidFill>
                  <a:srgbClr val="15261F"/>
                </a:solidFill>
                <a:latin typeface="Archivo"/>
              </a:rPr>
              <a:t>Con placebo: cerca de 2,4 %</a:t>
            </a:r>
          </a:p>
          <a:p>
            <a:pPr algn="l" marL="256032" indent="-256032">
              <a:lnSpc>
                <a:spcPct val="115000"/>
              </a:lnSpc>
              <a:spcAft>
                <a:spcPts val="1100"/>
              </a:spcAft>
              <a:buClr>
                <a:srgbClr val="1F5142"/>
              </a:buClr>
              <a:buFont typeface="Arial"/>
              <a:buChar char="■"/>
            </a:pPr>
            <a:r>
              <a:rPr sz="1800" b="0" i="0">
                <a:solidFill>
                  <a:srgbClr val="15261F"/>
                </a:solidFill>
                <a:latin typeface="Archivo"/>
              </a:rPr>
              <a:t>Adultos con obesidad y sin diabetes</a:t>
            </a:r>
          </a:p>
          <a:p>
            <a:pPr algn="l" marL="256032" indent="-256032">
              <a:lnSpc>
                <a:spcPct val="115000"/>
              </a:lnSpc>
              <a:spcAft>
                <a:spcPts val="1100"/>
              </a:spcAft>
              <a:buClr>
                <a:srgbClr val="1F5142"/>
              </a:buClr>
              <a:buFont typeface="Arial"/>
              <a:buChar char="■"/>
            </a:pPr>
            <a:r>
              <a:rPr sz="1800" b="0" i="0">
                <a:solidFill>
                  <a:srgbClr val="15261F"/>
                </a:solidFill>
                <a:latin typeface="Archivo"/>
              </a:rPr>
              <a:t>Al suspender, se recupera cerca de dos tercios en un año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Wilding 2021 (PMID 33567185); extensión: Wilding 2022 (PMID 35441470).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333195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33319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Qué esperar según el medicamento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73F33"/>
                </a:solidFill>
                <a:latin typeface="Archivo"/>
              </a:rPr>
              <a:t>Semaglutida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66466"/>
            <a:ext cx="2954426" cy="21816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Cerca de 15 % a 68 semanas (STEP 1).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73F33"/>
                </a:solidFill>
                <a:latin typeface="Archivo"/>
              </a:rPr>
              <a:t>Tirzepatida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66466"/>
            <a:ext cx="2954426" cy="21816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Entre 15 % y 21 % a 72 semanas según la dosis (SURMOUNT-1).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4244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73F33"/>
                </a:solidFill>
                <a:latin typeface="Archivo"/>
              </a:rPr>
              <a:t>Liraglutida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66466"/>
            <a:ext cx="2954426" cy="21816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Cerca de 8 % a 56 semanas (SCALE).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PMID 33567185, 35658024, 26132939.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3291840" cy="3108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 i="0">
                <a:solidFill>
                  <a:srgbClr val="E4AA18"/>
                </a:solidFill>
                <a:latin typeface="Fraunces"/>
              </a:rPr>
              <a:t>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60520" y="1737360"/>
            <a:ext cx="0" cy="3383280"/>
          </a:xfrm>
          <a:prstGeom prst="line">
            <a:avLst/>
          </a:prstGeom>
          <a:ln w="190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9EE"/>
                </a:solidFill>
                <a:latin typeface="Fraunces"/>
              </a:rPr>
              <a:t>Dosis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406908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Según la ficha oficial.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340321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340321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SEMAGLUTIDA · INYECCIÓN SEMANAL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Escalada en 16 semanas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21991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Semanas 1 a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240279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0,25 mg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2907792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2962656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990088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Semanas 5 a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008376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0,5 mg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675888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730752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58184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Semanas 9 a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76472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1 mg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443984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498848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526280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Semanas 13 a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544568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1,7 mg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521208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5266944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294376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Desde la 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312664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2,4 mg (recomendada) o 1,7 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 FDA de Wegovy.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340321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340321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TIRZEPATIDA · INYECCIÓN SEMANAL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Sube de 2,5 mg en 2,5 mg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Inicio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2,5 mg por 4 semanas (no es dosis de mantenimiento).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Subir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895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De 2,5 mg en 2,5 mg, tras al menos 4 semanas en cada dosis.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Mantenimiento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5, 10 o 15 mg semanales.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895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Máximo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9895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15 mg una vez por semana.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 FDA de Zepbound.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3304641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330464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LIRAGLUTIDA · INYECCIÓN DIARIA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Escalada semanal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21991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Semana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240279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0,6 mg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2907792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2962656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990088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Semana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008376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1,2 mg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675888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730752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58184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Semana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76472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1,8 mg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443984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498848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526280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Semana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544568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2,4 mg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521208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5266944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294376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Semana 5 en adelante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312664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3 mg diarios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 FDA de Saxenda.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3291840" cy="3108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 i="0">
                <a:solidFill>
                  <a:srgbClr val="E4AA18"/>
                </a:solidFill>
                <a:latin typeface="Fraunces"/>
              </a:rPr>
              <a:t>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60520" y="1737360"/>
            <a:ext cx="0" cy="3383280"/>
          </a:xfrm>
          <a:prstGeom prst="line">
            <a:avLst/>
          </a:prstGeom>
          <a:ln w="190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9EE"/>
                </a:solidFill>
                <a:latin typeface="Fraunces"/>
              </a:rPr>
              <a:t>Otros péptidos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406908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Retatrutida y el eje de la hormona de crecimiento.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4881798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488179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RETATRUTIDA · EN INVESTIGACIÓN, SIN APROBACIÓN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Las dos formas de medir la pérdida de peso en TRIUMPH-4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73F33"/>
                </a:solidFill>
                <a:latin typeface="Fraunces"/>
              </a:rPr>
              <a:t>Estimando de eficacia (titular)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3017520"/>
            <a:ext cx="4724247" cy="0"/>
          </a:xfrm>
          <a:prstGeom prst="line">
            <a:avLst/>
          </a:prstGeom>
          <a:ln w="1270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Solo quienes siguen el tratamiento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12 mg: −28,7 %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9 mg: −26,4 %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Placebo: −2,1 %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1F5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9EE"/>
                </a:solidFill>
                <a:latin typeface="Fraunces"/>
              </a:rPr>
              <a:t>Régimen de tratamiento (todos)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53047" y="3017520"/>
            <a:ext cx="4724248" cy="0"/>
          </a:xfrm>
          <a:prstGeom prst="line">
            <a:avLst/>
          </a:prstGeom>
          <a:ln w="1270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53047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Todos los participantes, sigan o no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12 mg: −23,7 %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9 mg: −20,0 %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Placebo: −4,6 %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TRIUMPH-4: obesidad y artrosis de rodilla, 68 semanas, 9 y 12 mg semanales (se empieza con 2 mg). Resultados preliminares (HCPLive, Rheum Live). TRIUMPH-1, 80 semanas, régimen de tratamiento: 12 mg −25,0 %.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713207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71320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SEGURIDAD DE RETATRUTIDA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Lo que se ha visto en TRIUMPH-4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291840"/>
          </a:xfrm>
          <a:prstGeom prst="roundRect">
            <a:avLst>
              <a:gd name="adj" fmla="val 222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Digestivos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21228"/>
            <a:ext cx="2954426" cy="2109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Náuseas en 38 % (9 mg) y 43 % (12 mg), frente a 10 % con placebo.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3291840"/>
          </a:xfrm>
          <a:prstGeom prst="roundRect">
            <a:avLst>
              <a:gd name="adj" fmla="val 222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Sensibilidad de la piel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3221228"/>
            <a:ext cx="2954426" cy="2109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Disestesia en 9 % (9 mg) y 21 % (12 mg), frente a 0,7 %.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3291840"/>
          </a:xfrm>
          <a:prstGeom prst="roundRect">
            <a:avLst>
              <a:gd name="adj" fmla="val 222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Suspensión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3221228"/>
            <a:ext cx="2954426" cy="21097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Por efectos adversos: 12 % (9 mg), 18 % (12 mg) y 4 % con placebo.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TRIUMPH-4, reseñas de prensa médica; TRIUMPH-2 (PMID 42810372).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3501786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35017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EJE DE LA HORMONA DE CRECIMIENTO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Qué respaldan las fuentes oficiales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291840"/>
          </a:xfrm>
          <a:prstGeom prst="roundRect">
            <a:avLst>
              <a:gd name="adj" fmla="val 222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Tesamorelina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191256"/>
            <a:ext cx="2954426" cy="2139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Aprobada solo para la grasa abdominal en VIH. La ficha dice que no es para manejar el peso.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3291840"/>
          </a:xfrm>
          <a:prstGeom prst="roundRect">
            <a:avLst>
              <a:gd name="adj" fmla="val 222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Sermorelina y mecasermina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3191256"/>
            <a:ext cx="2954426" cy="2139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Uso pediátrico por déficit de GH o de IGF-1. No tratan la obesidad.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3291840"/>
          </a:xfrm>
          <a:prstGeom prst="roundRect">
            <a:avLst>
              <a:gd name="adj" fmla="val 222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Secretagogos sin aprobación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3191256"/>
            <a:ext cx="2954426" cy="2139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No hay ensayos que respalden su uso en obesidad; pueden dar hambre.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 FDA de Egrifta; Falutz 2007 (PMID 18057338); Prakash 1999 (PMID 18031173).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3291840" cy="3108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 i="0">
                <a:solidFill>
                  <a:srgbClr val="E4AA18"/>
                </a:solidFill>
                <a:latin typeface="Fraunces"/>
              </a:rPr>
              <a:t>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60520" y="1737360"/>
            <a:ext cx="0" cy="3383280"/>
          </a:xfrm>
          <a:prstGeom prst="line">
            <a:avLst/>
          </a:prstGeom>
          <a:ln w="190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9EE"/>
                </a:solidFill>
                <a:latin typeface="Fraunces"/>
              </a:rPr>
              <a:t>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406908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Contraindicaciones y precauciones.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12177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2177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CONTRAINDICACIONES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No usar si hay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739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73F33"/>
                </a:solidFill>
                <a:latin typeface="Archivo"/>
              </a:rPr>
              <a:t>Cáncer medular de tiroides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81172"/>
            <a:ext cx="2954426" cy="186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Antecedente personal o familiar.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739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73F33"/>
                </a:solidFill>
                <a:latin typeface="Archivo"/>
              </a:rPr>
              <a:t>MEN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3281172"/>
            <a:ext cx="2954426" cy="186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Neoplasia endocrina múltiple tipo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739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73F33"/>
                </a:solidFill>
                <a:latin typeface="Archivo"/>
              </a:rPr>
              <a:t>Alergia grave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3281172"/>
            <a:ext cx="2954426" cy="186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Al medicamento o a sus componentes.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fichas oficiales de la FDA (Wegovy, Zepbound, Saxenda) y ensayos STEP 1, SURMOUNT-1 y SCALE.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530339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5303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Se evalúan caso por caso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Páncreas y vesícula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06522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Pancreatitis previa, cálculos.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Estómago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06522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Gastroparesia grave: no se recomienda.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Riñón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06522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Riesgo de deshidratación por vómito o diarrea.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71416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Diabetes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909058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Retinopatía; hipoglucemia con insulina o sulfonilureas.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2602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8634" y="4471416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Ánimo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8634" y="4909058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Vigilar depresión e ideas de suicidio.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5124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1156" y="4471416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Embarazo y anestesia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1156" y="4909058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Evitar embarazo; avisar antes de sedación.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fichas oficiales de la FDA (Wegovy, Zepbound, Saxenda) y ensayos STEP 1, SURMOUNT-1 y SCALE.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3291840" cy="3108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 i="0">
                <a:solidFill>
                  <a:srgbClr val="E4AA18"/>
                </a:solidFill>
                <a:latin typeface="Fraunces"/>
              </a:rPr>
              <a:t>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60520" y="1737360"/>
            <a:ext cx="0" cy="3383280"/>
          </a:xfrm>
          <a:prstGeom prst="line">
            <a:avLst/>
          </a:prstGeom>
          <a:ln w="190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9EE"/>
                </a:solidFill>
                <a:latin typeface="Fraunces"/>
              </a:rPr>
              <a:t>Signos de alarma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406908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Cuándo consultar o ir a urgencias.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924629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92462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PARA EL PACIENTE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Consulta o urgencias si presenta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Dolor fuerte de abdomen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161284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Puede irse a la espalda: pancreatitis.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Dolor arriba a la derecha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3161284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Con fiebre o piel amarilla: vesícula.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Vómito o diarrea sin parar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3161284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Poca orina y mareo: deshidratación y riñón.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71416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Cara o labios hinchados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909058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Dificultad para respirar: alergia grave.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2602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8634" y="4471416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Bulto en el cuello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8634" y="4909058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Dificultad para tragar o ronquera persistente.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5124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1156" y="4471416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Ánimo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1156" y="4909058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Tristeza profunda o ideas de hacerse daño.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fichas oficiales de la FDA (Wegovy, Zepbound, Saxenda) y ensayos STEP 1, SURMOUNT-1 y SCALE.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12177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2177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SEGÚN EL DR. 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Cuatro fases del manejo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1. Preparación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51480"/>
            <a:ext cx="4815687" cy="834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Primera semana: valoración, contraindicaciones y hábitos base.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2240280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2. Intensificación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895" y="2951480"/>
            <a:ext cx="4815687" cy="834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Unas 40 semanas: dosis baja y escalada; 1 a 2 kg por 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242816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7141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3. Transición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954016"/>
            <a:ext cx="4815687" cy="834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Unas 24 semanas: meseta y dosis de mantenimiento.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4242816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895" y="447141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4. Mantenimiento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9895" y="4954016"/>
            <a:ext cx="4815687" cy="834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Largo plazo: seguimiento y hábitos; muchas veces se continúa.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 Sosa, diap. 60 a 63.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924629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92462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PARA EL PACIENTE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Otras señales para consultar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Pérdida súbita de visión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36494"/>
            <a:ext cx="4815687" cy="8491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Muy rara con semaglutida (EMA): consultar sin demora.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2240280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468880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Hipoglucemia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895" y="2936494"/>
            <a:ext cx="4815687" cy="8491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Temblor, sudor frío, confusión, si usa insulina o sulfonilureas.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242816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71416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Pulso acelerado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939030"/>
            <a:ext cx="4815687" cy="8491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Palpitaciones o latidos muy rápidos.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4242816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895" y="4471416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Embarazo o sospecha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9895" y="4939030"/>
            <a:ext cx="4815687" cy="8491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Suspender y consultar al médico.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Fuentes: fichas FDA y comunicado del PRAC de la EMA.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737360"/>
            <a:ext cx="82296" cy="2743200"/>
          </a:xfrm>
          <a:prstGeom prst="rect">
            <a:avLst/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24128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9EE"/>
                </a:solidFill>
                <a:latin typeface="Fraunces"/>
              </a:rPr>
              <a:t>Cuida el </a:t>
            </a:r>
            <a:r>
              <a:rPr sz="4000" b="1" i="0">
                <a:solidFill>
                  <a:srgbClr val="E4AA18"/>
                </a:solidFill>
                <a:latin typeface="Fraunces"/>
              </a:rPr>
              <a:t>músculo</a:t>
            </a:r>
            <a:r>
              <a:rPr sz="4000" b="1" i="0">
                <a:solidFill>
                  <a:srgbClr val="FFF9EE"/>
                </a:solidFill>
                <a:latin typeface="Fraunces"/>
              </a:rPr>
              <a:t> mientras bajas de peso.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8348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Proteína en cada comida y entrenamiento de fuerza. Es lo que recomienda el consenso europeo de 2026.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3291840" cy="3108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 i="0">
                <a:solidFill>
                  <a:srgbClr val="E4AA18"/>
                </a:solidFill>
                <a:latin typeface="Fraunces"/>
              </a:rPr>
              <a:t>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60520" y="1737360"/>
            <a:ext cx="0" cy="3383280"/>
          </a:xfrm>
          <a:prstGeom prst="line">
            <a:avLst/>
          </a:prstGeom>
          <a:ln w="190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9EE"/>
                </a:solidFill>
                <a:latin typeface="Fraunces"/>
              </a:rPr>
              <a:t>Recomendaciones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406908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Cómo usarlo bien.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826056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826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RECOMENDACIONES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Seis claves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Receta y seguimiento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06522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Solo productos con registro, en farmacias autorizadas.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Es un complemento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06522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Plan alimentario y actividad física siempre.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Proteger el músculo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06522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Proteína en cada comida y fuerza dos veces por semana.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71416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Comer despacio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163820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Porciones pequeñas, poca grasa y buena hidratación.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2602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8634" y="4471416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Titular con paciencia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8634" y="5163820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No saltar pasos de dosis.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5124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1156" y="4471416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Pensar en el mantenimiento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1156" y="5163820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Al suspender, el peso suele recuperarse.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fichas oficiales de la FDA (Wegovy, Zepbound, Saxenda) y ensayos STEP 1, SURMOUNT-1 y SCALE.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530339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5303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9EE"/>
                </a:solidFill>
                <a:latin typeface="Fraunces"/>
              </a:rPr>
              <a:t>Tres ideas para llevarte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2199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Registrados y con receta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24027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9BAFA4"/>
                </a:solidFill>
                <a:latin typeface="Archivo"/>
              </a:rPr>
              <a:t>Semaglutida, liraglutida y tirzepatida.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008375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3063239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09067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Titular y vigilar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0895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9BAFA4"/>
                </a:solidFill>
                <a:latin typeface="Archivo"/>
              </a:rPr>
              <a:t>Subir despacio y conocer los signos de alarma.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877056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9319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5935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Enfermedad crónica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97763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9BAFA4"/>
                </a:solidFill>
                <a:latin typeface="Archivo"/>
              </a:rPr>
              <a:t>Se acompaña con hábitos y se planea el mantenimiento.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1" i="0">
                <a:solidFill>
                  <a:srgbClr val="FFF9EE"/>
                </a:solidFill>
                <a:latin typeface="Fraunces"/>
              </a:rPr>
              <a:t>Guía para el médico que prescribe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6766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E4AA18"/>
              </a:buClr>
              <a:buFont typeface="Arial"/>
              <a:buChar char="■"/>
            </a:pPr>
            <a:r>
              <a:rPr sz="1800" b="0" i="0">
                <a:solidFill>
                  <a:srgbClr val="FFF9EE"/>
                </a:solidFill>
                <a:latin typeface="Archivo"/>
              </a:rPr>
              <a:t>Medicamentos de receta con registro sanitario</a:t>
            </a:r>
          </a:p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E4AA18"/>
              </a:buClr>
              <a:buFont typeface="Arial"/>
              <a:buChar char="■"/>
            </a:pPr>
            <a:r>
              <a:rPr sz="1800" b="0" i="0">
                <a:solidFill>
                  <a:srgbClr val="FFF9EE"/>
                </a:solidFill>
                <a:latin typeface="Archivo"/>
              </a:rPr>
              <a:t>Verificar siempre la ficha aprobada en el país</a:t>
            </a:r>
          </a:p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E4AA18"/>
              </a:buClr>
              <a:buFont typeface="Arial"/>
              <a:buChar char="■"/>
            </a:pPr>
            <a:r>
              <a:rPr sz="1800" b="0" i="0">
                <a:solidFill>
                  <a:srgbClr val="FFF9EE"/>
                </a:solidFill>
                <a:latin typeface="Archivo"/>
              </a:rPr>
              <a:t>Material educativo: no reemplaza la consulta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617720"/>
            <a:ext cx="10911535" cy="1371600"/>
          </a:xfrm>
          <a:prstGeom prst="roundRect">
            <a:avLst>
              <a:gd name="adj" fmla="val 5333"/>
            </a:avLst>
          </a:prstGeom>
          <a:solidFill>
            <a:srgbClr val="1F5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9082735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9BAFA4"/>
                </a:solidFill>
                <a:latin typeface="Archivo"/>
              </a:rPr>
              <a:t>Las masterclasses son informativas y educativas. No constituyen diagnóstico, tratamiento ni prescripción personalizada, y no reemplazan la consulta médica. El Dr. Marco Sosa es Director Científico de Lumineight y percibe una participación sobre sus ventas; se declara para que lo tengas en cuenta al valorar lo que escuches.</a:t>
            </a:r>
          </a:p>
        </p:txBody>
      </p:sp>
      <p:sp>
        <p:nvSpPr>
          <p:cNvPr id="6" name="Oval 5"/>
          <p:cNvSpPr/>
          <p:nvPr/>
        </p:nvSpPr>
        <p:spPr>
          <a:xfrm>
            <a:off x="10500055" y="4773168"/>
            <a:ext cx="1051560" cy="1051560"/>
          </a:xfrm>
          <a:prstGeom prst="ellipse">
            <a:avLst/>
          </a:prstGeom>
          <a:solidFill>
            <a:srgbClr val="FFF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llo-red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8932" y="4809744"/>
            <a:ext cx="733806" cy="978408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 en sobrepeso y obesidad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