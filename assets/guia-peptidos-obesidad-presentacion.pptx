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Guía para el profesional. Son medicamentos de receta; no se venden desde este sitio.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péptido es una cadena corta de aminoácidos. Aquí solo hablamos de los registrados para obesidad.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Complemento del plan alimentario y la actividad física, no su reemplazo.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Marcar que el punto de la sensibilidad a la leptina es una hipótesis; la presentación no trae cita.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Obesidad es enfermedad crónica; evaluar riesgo, no solo IMC.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registros cambian: verificar siempre en la agencia nacional. Las notas de prensa sobre Colombia no son concluyentes.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respuesta varía de persona a persona.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Semaglutida además redujo eventos cardiovasculares en el ensayo SELECT (PMID 37952131).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titula de forma gradual para reducir las molestias digestivas. Verificar la ficha del país.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mismo día de cada semana, con o sin comida. Si no tolera, esperar 4 semanas más.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Elegir la dosis según respuesta y tolerancia.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Evaluar a las 16 semanas: si no bajó al menos 4 % del peso inicial, la ficha indica suspender.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Retatrutida está en investigación. Los péptidos de GH no tienen indicación en obesidad.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está aprobada en ningún país; Lilly anunció que la presentará a la FDA en el primer trimestre de 2027. Presentar siempre las dos lecturas con su método: son resultados de ensayos, no lo que se espera de una persona. Las cifras del estimando de eficacia son las de la diapositiva 74 del Dr. Marco; las de régimen de tratamiento vienen de una reseña y hay que confirmarlas cuando se publique el artículo. La dosis de mantenimiento de 4 mg de esa diapositiva no está respaldada.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Aún no hay seguridad a muy largo plazo. Sin pauta de uso fuera de ensayos. Los productos que circulan sin registro no tienen garantía de contenido ni de esterilidad.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respuesta respaldada para cuidar el músculo es la proteína y el entrenamiento de fuerza. Dosis de tesamorelina vigentes: ver la ficha.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Tres contraindicaciones comunes y varias precauciones.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tres llevan advertencia en recuadro por tumores de células C de la tiroides en roedores. En humanos no se sabe. La calcitonina o la ecografía rutinarias tienen valor incierto.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 anticonceptivos orales y tirzepatida: método adicional al empezar y al subir de dosis. Consultar la ficha.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Entregar esta lista por escrito al paciente.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hay sospecha de pancreatitis: suspender de inmediato y no reiniciar si se confirma.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dejaron fuera de esta diapositiva los esquemas de sueroterapia y los péptidos sin registro que la presentación incluye en cada fase.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Entregar esta lista por escrito al paciente.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EASO, EFAD y ECPO (2026); comunicado conjunto de 2025 de sociedades de medicina del estilo de vida y nutrición. No hay respaldo para sustituir esto con péptidos de 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usar versiones preparadas, de investigación ni compradas por internet. Seguimiento de peso, presión, glucosa, riñón y salud mental.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con la declaración de vínculos.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Leer la declaración sin prisa.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F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r-marco-sosa-1000.jpg"/>
          <p:cNvPicPr>
            <a:picLocks noChangeAspect="1"/>
          </p:cNvPicPr>
          <p:nvPr/>
        </p:nvPicPr>
        <p:blipFill>
          <a:blip r:embed="rId2"/>
          <a:srcRect l="6808" r="6808"/>
          <a:stretch>
            <a:fillRect/>
          </a:stretch>
        </p:blipFill>
        <p:spPr>
          <a:xfrm>
            <a:off x="7452360" y="0"/>
            <a:ext cx="473933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452360" y="0"/>
            <a:ext cx="73152" cy="6858000"/>
          </a:xfrm>
          <a:prstGeom prst="rect">
            <a:avLst/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640080"/>
            <a:ext cx="2614635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261463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GUÍA PARA PROFESIONALES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9BAFA4"/>
                </a:solidFill>
                <a:latin typeface="Archivo"/>
              </a:rPr>
              <a:t>Solo medicamentos con registro sanitario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649224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4AA18"/>
                </a:solidFill>
                <a:latin typeface="Fraunces"/>
              </a:rPr>
              <a:t>Péptidos</a:t>
            </a:r>
            <a:r>
              <a:rPr sz="4400" b="1" i="0">
                <a:solidFill>
                  <a:srgbClr val="FFF9EE"/>
                </a:solidFill>
                <a:latin typeface="Fraunces"/>
              </a:rPr>
              <a:t> en sobrepeso y obesidad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34840"/>
            <a:ext cx="6309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9BAFA4"/>
                </a:solidFill>
                <a:latin typeface="Archivo"/>
              </a:rPr>
              <a:t>Guía de manejo para el médico que prescribe: cómo funcionan, dosis, seguridad y uso.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5486400"/>
            <a:ext cx="1051560" cy="1051560"/>
          </a:xfrm>
          <a:prstGeom prst="ellipse">
            <a:avLst/>
          </a:prstGeom>
          <a:solidFill>
            <a:srgbClr val="FFF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ello-redon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957" y="5522976"/>
            <a:ext cx="733806" cy="9784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20239" y="5596128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FF9EE"/>
                </a:solidFill>
                <a:latin typeface="Archivo"/>
              </a:rPr>
              <a:t>Dr. Marco Sosa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FF9EE"/>
                </a:solidFill>
                <a:latin typeface="Archivo"/>
              </a:rPr>
              <a:t>Medicina Integrativa · Registro médico 050330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737360"/>
            <a:ext cx="82296" cy="2743200"/>
          </a:xfrm>
          <a:prstGeom prst="rect">
            <a:avLst/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10241280" cy="3291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FFF9EE"/>
                </a:solidFill>
                <a:latin typeface="Fraunces"/>
              </a:rPr>
              <a:t>Estos péptidos </a:t>
            </a:r>
            <a:r>
              <a:rPr sz="4000" b="1" i="0">
                <a:solidFill>
                  <a:srgbClr val="E4AA18"/>
                </a:solidFill>
                <a:latin typeface="Fraunces"/>
              </a:rPr>
              <a:t>imitan</a:t>
            </a:r>
            <a:r>
              <a:rPr sz="4000" b="1" i="0">
                <a:solidFill>
                  <a:srgbClr val="FFF9EE"/>
                </a:solidFill>
                <a:latin typeface="Fraunces"/>
              </a:rPr>
              <a:t> hormonas del intestino.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83480"/>
            <a:ext cx="9875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9BAFA4"/>
                </a:solidFill>
                <a:latin typeface="Archivo"/>
              </a:rPr>
              <a:t>Semaglutida y liraglutida activan el receptor de GLP-1. Tirzepatida activa GLP-1 y GIP.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Dr. Marco Sosa · Péptidos en sobrepeso y obesidad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1727484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7274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CÓMO FUNCIONAN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Tres efectos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3466490" cy="3108960"/>
          </a:xfrm>
          <a:prstGeom prst="roundRect">
            <a:avLst>
              <a:gd name="adj" fmla="val 2352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468880"/>
            <a:ext cx="2954426" cy="4244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 i="0">
                <a:solidFill>
                  <a:srgbClr val="173F33"/>
                </a:solidFill>
                <a:latin typeface="Archivo"/>
              </a:rPr>
              <a:t>Más saciedad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966466"/>
            <a:ext cx="2954426" cy="21816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Actúan en el hipotálamo: menos apetito y menos antojos.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2602" y="2240280"/>
            <a:ext cx="3466490" cy="3108960"/>
          </a:xfrm>
          <a:prstGeom prst="roundRect">
            <a:avLst>
              <a:gd name="adj" fmla="val 2352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8634" y="2468880"/>
            <a:ext cx="2954426" cy="4244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 i="0">
                <a:solidFill>
                  <a:srgbClr val="173F33"/>
                </a:solidFill>
                <a:latin typeface="Archivo"/>
              </a:rPr>
              <a:t>Estómago más lento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8634" y="2966466"/>
            <a:ext cx="2954426" cy="21816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El vaciamiento gástrico tarda más: la llenura dura.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5124" y="2240280"/>
            <a:ext cx="3466490" cy="3108960"/>
          </a:xfrm>
          <a:prstGeom prst="roundRect">
            <a:avLst>
              <a:gd name="adj" fmla="val 2352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1156" y="2468880"/>
            <a:ext cx="2954426" cy="4244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 i="0">
                <a:solidFill>
                  <a:srgbClr val="173F33"/>
                </a:solidFill>
                <a:latin typeface="Archivo"/>
              </a:rPr>
              <a:t>Insulina y glucagón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1156" y="2966466"/>
            <a:ext cx="2954426" cy="21816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Más insulina si la glucosa está alta y menos glucagón.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E70"/>
                </a:solidFill>
                <a:latin typeface="Archivo"/>
              </a:rPr>
              <a:t>Fuente: fichas oficiales de la FDA (Wegovy, Zepbound, Saxenda) y ensayos STEP 1, SURMOUNT-1 y SCALE.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 en sobrepeso y obesidad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3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2121773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12177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SEGÚN EL DR. MARCO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GLP-1 y leptina trabajan juntos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5272887" cy="3611880"/>
          </a:xfrm>
          <a:prstGeom prst="roundRect">
            <a:avLst>
              <a:gd name="adj" fmla="val 2025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47242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173F33"/>
                </a:solidFill>
                <a:latin typeface="Fraunces"/>
              </a:rPr>
              <a:t>En la obesidad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3017520"/>
            <a:ext cx="4724247" cy="0"/>
          </a:xfrm>
          <a:prstGeom prst="line">
            <a:avLst/>
          </a:prstGeom>
          <a:ln w="1270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3200400"/>
            <a:ext cx="4724247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56032">
              <a:lnSpc>
                <a:spcPct val="112000"/>
              </a:lnSpc>
              <a:spcAft>
                <a:spcPts val="800"/>
              </a:spcAft>
              <a:buClr>
                <a:srgbClr val="1F5142"/>
              </a:buClr>
              <a:buFont typeface="Arial"/>
              <a:buChar char="■"/>
            </a:pPr>
            <a:r>
              <a:rPr sz="1600" b="0" i="0">
                <a:solidFill>
                  <a:srgbClr val="15261F"/>
                </a:solidFill>
                <a:latin typeface="Archivo"/>
              </a:rPr>
              <a:t>Leptina alta, con resistencia</a:t>
            </a:r>
          </a:p>
          <a:p>
            <a:pPr algn="l" marL="256032" indent="-256032">
              <a:lnSpc>
                <a:spcPct val="112000"/>
              </a:lnSpc>
              <a:spcAft>
                <a:spcPts val="800"/>
              </a:spcAft>
              <a:buClr>
                <a:srgbClr val="1F5142"/>
              </a:buClr>
              <a:buFont typeface="Arial"/>
              <a:buChar char="■"/>
            </a:pPr>
            <a:r>
              <a:rPr sz="1600" b="0" i="0">
                <a:solidFill>
                  <a:srgbClr val="15261F"/>
                </a:solidFill>
                <a:latin typeface="Archivo"/>
              </a:rPr>
              <a:t>Menos GLP-1</a:t>
            </a:r>
          </a:p>
          <a:p>
            <a:pPr algn="l" marL="256032" indent="-256032">
              <a:lnSpc>
                <a:spcPct val="112000"/>
              </a:lnSpc>
              <a:spcAft>
                <a:spcPts val="800"/>
              </a:spcAft>
              <a:buClr>
                <a:srgbClr val="1F5142"/>
              </a:buClr>
              <a:buFont typeface="Arial"/>
              <a:buChar char="■"/>
            </a:pPr>
            <a:r>
              <a:rPr sz="1600" b="0" i="0">
                <a:solidFill>
                  <a:srgbClr val="15261F"/>
                </a:solidFill>
                <a:latin typeface="Archivo"/>
              </a:rPr>
              <a:t>El cerebro deja de sentir saciedad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240280"/>
            <a:ext cx="5272887" cy="3611880"/>
          </a:xfrm>
          <a:prstGeom prst="roundRect">
            <a:avLst>
              <a:gd name="adj" fmla="val 2025"/>
            </a:avLst>
          </a:prstGeom>
          <a:solidFill>
            <a:srgbClr val="1F5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047" y="2423160"/>
            <a:ext cx="47242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9EE"/>
                </a:solidFill>
                <a:latin typeface="Fraunces"/>
              </a:rPr>
              <a:t>Con análogos de GLP-1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53047" y="3017520"/>
            <a:ext cx="4724248" cy="0"/>
          </a:xfrm>
          <a:prstGeom prst="line">
            <a:avLst/>
          </a:prstGeom>
          <a:ln w="1270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53047" y="3200400"/>
            <a:ext cx="4724247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56032">
              <a:lnSpc>
                <a:spcPct val="112000"/>
              </a:lnSpc>
              <a:spcAft>
                <a:spcPts val="800"/>
              </a:spcAft>
              <a:buClr>
                <a:srgbClr val="E4AA18"/>
              </a:buClr>
              <a:buFont typeface="Arial"/>
              <a:buChar char="■"/>
            </a:pPr>
            <a:r>
              <a:rPr sz="1600" b="0" i="0">
                <a:solidFill>
                  <a:srgbClr val="FFF9EE"/>
                </a:solidFill>
                <a:latin typeface="Archivo"/>
              </a:rPr>
              <a:t>Se amplifica la señal de saciedad</a:t>
            </a:r>
          </a:p>
          <a:p>
            <a:pPr algn="l" marL="256032" indent="-256032">
              <a:lnSpc>
                <a:spcPct val="112000"/>
              </a:lnSpc>
              <a:spcAft>
                <a:spcPts val="800"/>
              </a:spcAft>
              <a:buClr>
                <a:srgbClr val="E4AA18"/>
              </a:buClr>
              <a:buFont typeface="Arial"/>
              <a:buChar char="■"/>
            </a:pPr>
            <a:r>
              <a:rPr sz="1600" b="0" i="0">
                <a:solidFill>
                  <a:srgbClr val="FFF9EE"/>
                </a:solidFill>
                <a:latin typeface="Archivo"/>
              </a:rPr>
              <a:t>Se plantea mejor sensibilidad a la leptina</a:t>
            </a:r>
          </a:p>
          <a:p>
            <a:pPr algn="l" marL="256032" indent="-256032">
              <a:lnSpc>
                <a:spcPct val="112000"/>
              </a:lnSpc>
              <a:spcAft>
                <a:spcPts val="800"/>
              </a:spcAft>
              <a:buClr>
                <a:srgbClr val="E4AA18"/>
              </a:buClr>
              <a:buFont typeface="Arial"/>
              <a:buChar char="■"/>
            </a:pPr>
            <a:r>
              <a:rPr sz="1600" b="0" i="0">
                <a:solidFill>
                  <a:srgbClr val="FFF9EE"/>
                </a:solidFill>
                <a:latin typeface="Archivo"/>
              </a:rPr>
              <a:t>Contrarrestan la señal de «hambruna» al bajar de peso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E70"/>
                </a:solidFill>
                <a:latin typeface="Archivo"/>
              </a:rPr>
              <a:t>Fuente: presentación del Dr. Marco Sosa, diap. 51 a 59. La mejora de la sensibilidad a la leptina es una hipótesis.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 en sobrepeso y obesidad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1333195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33319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PARA QUIÉN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Indicación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1F5142"/>
                </a:solidFill>
                <a:latin typeface="Fraunce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221991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5261F"/>
                </a:solidFill>
                <a:latin typeface="Archivo"/>
              </a:rPr>
              <a:t>IMC de 30 o más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240279"/>
            <a:ext cx="6522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43554C"/>
                </a:solidFill>
                <a:latin typeface="Archivo"/>
              </a:rPr>
              <a:t>O de 27 o más con una enfermedad asociada.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3008375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3063239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1F5142"/>
                </a:solidFill>
                <a:latin typeface="Fraunce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090671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5261F"/>
                </a:solidFill>
                <a:latin typeface="Archivo"/>
              </a:rPr>
              <a:t>Con un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108959"/>
            <a:ext cx="6522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43554C"/>
                </a:solidFill>
                <a:latin typeface="Archivo"/>
              </a:rPr>
              <a:t>Alimentación con menos calorías y más actividad física.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3877056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393192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1F5142"/>
                </a:solidFill>
                <a:latin typeface="Fraunce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959352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5261F"/>
                </a:solidFill>
                <a:latin typeface="Archivo"/>
              </a:rPr>
              <a:t>Antes de indicar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977639"/>
            <a:ext cx="6522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43554C"/>
                </a:solidFill>
                <a:latin typeface="Archivo"/>
              </a:rPr>
              <a:t>Historia, glucosa, HbA1c, lípidos, riñón, hígado y TSH.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4745736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480060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1F5142"/>
                </a:solidFill>
                <a:latin typeface="Fraunce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828032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5261F"/>
                </a:solidFill>
                <a:latin typeface="Archivo"/>
              </a:rPr>
              <a:t>Antecedentes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846320"/>
            <a:ext cx="6522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43554C"/>
                </a:solidFill>
                <a:latin typeface="Archivo"/>
              </a:rPr>
              <a:t>Revisar tiroides personal o familiar y medicamentos.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E70"/>
                </a:solidFill>
                <a:latin typeface="Archivo"/>
              </a:rPr>
              <a:t>Fuente: fichas oficiales de la FDA (Wegovy, Zepbound, Saxenda) y ensayos STEP 1, SURMOUNT-1 y SCALE.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 en sobrepeso y obesidad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2516063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51606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PANORAMA INTERNACIONAL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Qué dicen las agencias y las guías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3466490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468880"/>
            <a:ext cx="2954426" cy="364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73F33"/>
                </a:solidFill>
                <a:latin typeface="Archivo"/>
              </a:rPr>
              <a:t>OMS (dic. 2025)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906522"/>
            <a:ext cx="2954426" cy="8790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Recomienda de forma condicional GLP-1 a largo plazo con IMC de 30 o más.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2602" y="2240280"/>
            <a:ext cx="3466490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8634" y="2468880"/>
            <a:ext cx="2954426" cy="364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73F33"/>
                </a:solidFill>
                <a:latin typeface="Archivo"/>
              </a:rPr>
              <a:t>FDA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8634" y="2906522"/>
            <a:ext cx="2954426" cy="8790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Semaglutida, tirzepatida y liraglutida con indicación para peso.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5124" y="2240280"/>
            <a:ext cx="3466490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1156" y="2468880"/>
            <a:ext cx="2954426" cy="364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73F33"/>
                </a:solidFill>
                <a:latin typeface="Archivo"/>
              </a:rPr>
              <a:t>Unión Europea (EMA)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1156" y="2906522"/>
            <a:ext cx="2954426" cy="8790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Mounjaro autorizado para peso; NAION: efecto muy raro de la semaglutida.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42816"/>
            <a:ext cx="3466490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471416"/>
            <a:ext cx="2954426" cy="6192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73F33"/>
                </a:solidFill>
                <a:latin typeface="Archivo"/>
              </a:rPr>
              <a:t>Reino Unido (NICE)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5163820"/>
            <a:ext cx="2954426" cy="6243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IMC de 35 o más con comorbilidad; semaglutida hasta 2 años.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2602" y="4242816"/>
            <a:ext cx="3466490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8634" y="4471416"/>
            <a:ext cx="2954426" cy="6192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73F33"/>
                </a:solidFill>
                <a:latin typeface="Archivo"/>
              </a:rPr>
              <a:t>Canadá, Japón y Australia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8634" y="5163820"/>
            <a:ext cx="2954426" cy="6243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Wegovy y tirzepatida aprobados para obesidad.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5124" y="4242816"/>
            <a:ext cx="3466490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1156" y="4471416"/>
            <a:ext cx="2954426" cy="6192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73F33"/>
                </a:solidFill>
                <a:latin typeface="Archivo"/>
              </a:rPr>
              <a:t>Colombia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1156" y="5163820"/>
            <a:ext cx="2954426" cy="6243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Confirmar el registro del INVIMA del producto exacto.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E70"/>
                </a:solidFill>
                <a:latin typeface="Archivo"/>
              </a:rPr>
              <a:t>Fuentes: OMS 2025, FDA, EMA, NICE TA875 y TA1026, Health Canada, PMDA y TGA. Ver bibliografía.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 en sobrepeso y obesidad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1333195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33319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Semaglutida en el ensayo STEP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4754880" cy="3383280"/>
          </a:xfrm>
          <a:prstGeom prst="roundRect">
            <a:avLst>
              <a:gd name="adj" fmla="val 2162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420624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8800" b="1" i="0">
                <a:solidFill>
                  <a:srgbClr val="1F5142"/>
                </a:solidFill>
                <a:latin typeface="Fraunces"/>
              </a:rPr>
              <a:t>≈15 %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4206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pérdida media del peso a 68 semanas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423160"/>
            <a:ext cx="5608015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56032">
              <a:lnSpc>
                <a:spcPct val="115000"/>
              </a:lnSpc>
              <a:spcAft>
                <a:spcPts val="1100"/>
              </a:spcAft>
              <a:buClr>
                <a:srgbClr val="1F5142"/>
              </a:buClr>
              <a:buFont typeface="Arial"/>
              <a:buChar char="■"/>
            </a:pPr>
            <a:r>
              <a:rPr sz="1800" b="0" i="0">
                <a:solidFill>
                  <a:srgbClr val="15261F"/>
                </a:solidFill>
                <a:latin typeface="Archivo"/>
              </a:rPr>
              <a:t>Con placebo: cerca de 2,4 %</a:t>
            </a:r>
          </a:p>
          <a:p>
            <a:pPr algn="l" marL="256032" indent="-256032">
              <a:lnSpc>
                <a:spcPct val="115000"/>
              </a:lnSpc>
              <a:spcAft>
                <a:spcPts val="1100"/>
              </a:spcAft>
              <a:buClr>
                <a:srgbClr val="1F5142"/>
              </a:buClr>
              <a:buFont typeface="Arial"/>
              <a:buChar char="■"/>
            </a:pPr>
            <a:r>
              <a:rPr sz="1800" b="0" i="0">
                <a:solidFill>
                  <a:srgbClr val="15261F"/>
                </a:solidFill>
                <a:latin typeface="Archivo"/>
              </a:rPr>
              <a:t>Adultos con obesidad y sin diabetes</a:t>
            </a:r>
          </a:p>
          <a:p>
            <a:pPr algn="l" marL="256032" indent="-256032">
              <a:lnSpc>
                <a:spcPct val="115000"/>
              </a:lnSpc>
              <a:spcAft>
                <a:spcPts val="1100"/>
              </a:spcAft>
              <a:buClr>
                <a:srgbClr val="1F5142"/>
              </a:buClr>
              <a:buFont typeface="Arial"/>
              <a:buChar char="■"/>
            </a:pPr>
            <a:r>
              <a:rPr sz="1800" b="0" i="0">
                <a:solidFill>
                  <a:srgbClr val="15261F"/>
                </a:solidFill>
                <a:latin typeface="Archivo"/>
              </a:rPr>
              <a:t>Al suspender, se recupera cerca de dos tercios en un año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E70"/>
                </a:solidFill>
                <a:latin typeface="Archivo"/>
              </a:rPr>
              <a:t>Fuente: Wilding 2021 (PMID 33567185); extensión: Wilding 2022 (PMID 35441470).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 en sobrepeso y obesidad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1333195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33319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Qué esperar según el medicamento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3466490" cy="3108960"/>
          </a:xfrm>
          <a:prstGeom prst="roundRect">
            <a:avLst>
              <a:gd name="adj" fmla="val 2352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468880"/>
            <a:ext cx="2954426" cy="4244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 i="0">
                <a:solidFill>
                  <a:srgbClr val="173F33"/>
                </a:solidFill>
                <a:latin typeface="Archivo"/>
              </a:rPr>
              <a:t>Semaglutida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966466"/>
            <a:ext cx="2954426" cy="21816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Cerca de 15 % a 68 semanas (STEP 1).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2602" y="2240280"/>
            <a:ext cx="3466490" cy="3108960"/>
          </a:xfrm>
          <a:prstGeom prst="roundRect">
            <a:avLst>
              <a:gd name="adj" fmla="val 2352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8634" y="2468880"/>
            <a:ext cx="2954426" cy="4244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 i="0">
                <a:solidFill>
                  <a:srgbClr val="173F33"/>
                </a:solidFill>
                <a:latin typeface="Archivo"/>
              </a:rPr>
              <a:t>Tirzepatida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8634" y="2966466"/>
            <a:ext cx="2954426" cy="21816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Entre 15 % y 21 % a 72 semanas según la dosis (SURMOUNT-1).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5124" y="2240280"/>
            <a:ext cx="3466490" cy="3108960"/>
          </a:xfrm>
          <a:prstGeom prst="roundRect">
            <a:avLst>
              <a:gd name="adj" fmla="val 2352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1156" y="2468880"/>
            <a:ext cx="2954426" cy="4244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 i="0">
                <a:solidFill>
                  <a:srgbClr val="173F33"/>
                </a:solidFill>
                <a:latin typeface="Archivo"/>
              </a:rPr>
              <a:t>Liraglutida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1156" y="2966466"/>
            <a:ext cx="2954426" cy="21816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Cerca de 8 % a 56 semanas (SCALE).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E70"/>
                </a:solidFill>
                <a:latin typeface="Archivo"/>
              </a:rPr>
              <a:t>Fuente: PMID 33567185, 35658024, 26132939.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 en sobrepeso y obesidad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51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3291840" cy="3108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19000" b="1" i="0">
                <a:solidFill>
                  <a:srgbClr val="E4AA18"/>
                </a:solidFill>
                <a:latin typeface="Fraunces"/>
              </a:rPr>
              <a:t>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60520" y="1737360"/>
            <a:ext cx="0" cy="3383280"/>
          </a:xfrm>
          <a:prstGeom prst="line">
            <a:avLst/>
          </a:prstGeom>
          <a:ln w="190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0" y="1737360"/>
            <a:ext cx="6949440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4200" b="1" i="0">
                <a:solidFill>
                  <a:srgbClr val="FFF9EE"/>
                </a:solidFill>
                <a:latin typeface="Fraunces"/>
              </a:rPr>
              <a:t>Dosis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069080"/>
            <a:ext cx="6766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9BAFA4"/>
                </a:solidFill>
                <a:latin typeface="Archivo"/>
              </a:rPr>
              <a:t>Según la ficha oficial.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Dr. Marco Sosa · Péptidos en sobrepeso y obesidad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9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3403213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340321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SEMAGLUTIDA · INYECCIÓN SEMANAL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Escalada en 16 semanas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1F5142"/>
                </a:solidFill>
                <a:latin typeface="Fraunce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221991"/>
            <a:ext cx="3383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5261F"/>
                </a:solidFill>
                <a:latin typeface="Archivo"/>
              </a:rPr>
              <a:t>Semanas 1 a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240279"/>
            <a:ext cx="652241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43554C"/>
                </a:solidFill>
                <a:latin typeface="Archivo"/>
              </a:rPr>
              <a:t>0,25 mg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2907792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2962656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1F5142"/>
                </a:solidFill>
                <a:latin typeface="Fraunce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90088"/>
            <a:ext cx="3383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5261F"/>
                </a:solidFill>
                <a:latin typeface="Archivo"/>
              </a:rPr>
              <a:t>Semanas 5 a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008376"/>
            <a:ext cx="652241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43554C"/>
                </a:solidFill>
                <a:latin typeface="Archivo"/>
              </a:rPr>
              <a:t>0,5 mg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3675888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3730752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1F5142"/>
                </a:solidFill>
                <a:latin typeface="Fraunce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758184"/>
            <a:ext cx="3383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5261F"/>
                </a:solidFill>
                <a:latin typeface="Archivo"/>
              </a:rPr>
              <a:t>Semanas 9 a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776472"/>
            <a:ext cx="652241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43554C"/>
                </a:solidFill>
                <a:latin typeface="Archivo"/>
              </a:rPr>
              <a:t>1 mg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4443984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4498848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1F5142"/>
                </a:solidFill>
                <a:latin typeface="Fraunce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3383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5261F"/>
                </a:solidFill>
                <a:latin typeface="Archivo"/>
              </a:rPr>
              <a:t>Semanas 13 a 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544568"/>
            <a:ext cx="652241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43554C"/>
                </a:solidFill>
                <a:latin typeface="Archivo"/>
              </a:rPr>
              <a:t>1,7 mg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521208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5266944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1F5142"/>
                </a:solidFill>
                <a:latin typeface="Fraunce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294376"/>
            <a:ext cx="3383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5261F"/>
                </a:solidFill>
                <a:latin typeface="Archivo"/>
              </a:rPr>
              <a:t>Desde la 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312664"/>
            <a:ext cx="652241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43554C"/>
                </a:solidFill>
                <a:latin typeface="Archivo"/>
              </a:rPr>
              <a:t>2,4 mg (recomendada) o 1,7 mg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E70"/>
                </a:solidFill>
                <a:latin typeface="Archivo"/>
              </a:rPr>
              <a:t>Fuente: ficha FDA de Wegovy.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Picture 25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 en sobrepeso y obesidad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3403213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340321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TIRZEPATIDA · INYECCIÓN SEMANAL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Sube de 2,5 mg en 2,5 mg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5327751" cy="1700784"/>
          </a:xfrm>
          <a:prstGeom prst="roundRect">
            <a:avLst>
              <a:gd name="adj" fmla="val 4301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468880"/>
            <a:ext cx="4815687" cy="409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73F33"/>
                </a:solidFill>
                <a:latin typeface="Archivo"/>
              </a:rPr>
              <a:t>Inicio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951480"/>
            <a:ext cx="4815687" cy="788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2,5 mg por 4 semanas (no es dosis de mantenimiento).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3863" y="2240280"/>
            <a:ext cx="5327751" cy="1700784"/>
          </a:xfrm>
          <a:prstGeom prst="roundRect">
            <a:avLst>
              <a:gd name="adj" fmla="val 4301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9895" y="2468880"/>
            <a:ext cx="4815687" cy="409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73F33"/>
                </a:solidFill>
                <a:latin typeface="Archivo"/>
              </a:rPr>
              <a:t>Subir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9895" y="2951480"/>
            <a:ext cx="4815687" cy="788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De 2,5 mg en 2,5 mg, tras al menos 4 semanas en cada dosis.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197096"/>
            <a:ext cx="5327751" cy="1700784"/>
          </a:xfrm>
          <a:prstGeom prst="roundRect">
            <a:avLst>
              <a:gd name="adj" fmla="val 4301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425696"/>
            <a:ext cx="4815687" cy="409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73F33"/>
                </a:solidFill>
                <a:latin typeface="Archivo"/>
              </a:rPr>
              <a:t>Mantenimiento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908296"/>
            <a:ext cx="4815687" cy="788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5, 10 o 15 mg semanales.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3863" y="4197096"/>
            <a:ext cx="5327751" cy="1700784"/>
          </a:xfrm>
          <a:prstGeom prst="roundRect">
            <a:avLst>
              <a:gd name="adj" fmla="val 4301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9895" y="4425696"/>
            <a:ext cx="4815687" cy="409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73F33"/>
                </a:solidFill>
                <a:latin typeface="Archivo"/>
              </a:rPr>
              <a:t>Máximo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9895" y="4908296"/>
            <a:ext cx="4815687" cy="788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15 mg una vez por semana.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E70"/>
                </a:solidFill>
                <a:latin typeface="Archivo"/>
              </a:rPr>
              <a:t>Fuente: ficha FDA de Zepbound.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 en sobrepeso y obesidad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3304641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330464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LIRAGLUTIDA · INYECCIÓN DIARIA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Escalada semanal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1F5142"/>
                </a:solidFill>
                <a:latin typeface="Fraunce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221991"/>
            <a:ext cx="3383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5261F"/>
                </a:solidFill>
                <a:latin typeface="Archivo"/>
              </a:rPr>
              <a:t>Semana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240279"/>
            <a:ext cx="652241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43554C"/>
                </a:solidFill>
                <a:latin typeface="Archivo"/>
              </a:rPr>
              <a:t>0,6 mg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2907792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2962656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1F5142"/>
                </a:solidFill>
                <a:latin typeface="Fraunce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90088"/>
            <a:ext cx="3383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5261F"/>
                </a:solidFill>
                <a:latin typeface="Archivo"/>
              </a:rPr>
              <a:t>Semana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008376"/>
            <a:ext cx="652241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43554C"/>
                </a:solidFill>
                <a:latin typeface="Archivo"/>
              </a:rPr>
              <a:t>1,2 mg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3675888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3730752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1F5142"/>
                </a:solidFill>
                <a:latin typeface="Fraunce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758184"/>
            <a:ext cx="3383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5261F"/>
                </a:solidFill>
                <a:latin typeface="Archivo"/>
              </a:rPr>
              <a:t>Semana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776472"/>
            <a:ext cx="652241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43554C"/>
                </a:solidFill>
                <a:latin typeface="Archivo"/>
              </a:rPr>
              <a:t>1,8 mg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4443984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4498848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1F5142"/>
                </a:solidFill>
                <a:latin typeface="Fraunce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3383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5261F"/>
                </a:solidFill>
                <a:latin typeface="Archivo"/>
              </a:rPr>
              <a:t>Semana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544568"/>
            <a:ext cx="652241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43554C"/>
                </a:solidFill>
                <a:latin typeface="Archivo"/>
              </a:rPr>
              <a:t>2,4 mg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521208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5266944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1F5142"/>
                </a:solidFill>
                <a:latin typeface="Fraunce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294376"/>
            <a:ext cx="3383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5261F"/>
                </a:solidFill>
                <a:latin typeface="Archivo"/>
              </a:rPr>
              <a:t>Semana 5 en adelante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312664"/>
            <a:ext cx="652241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43554C"/>
                </a:solidFill>
                <a:latin typeface="Archivo"/>
              </a:rPr>
              <a:t>3 mg diarios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E70"/>
                </a:solidFill>
                <a:latin typeface="Archivo"/>
              </a:rPr>
              <a:t>Fuente: ficha FDA de Saxenda.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Picture 25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 en sobrepeso y obesidad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51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3291840" cy="3108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19000" b="1" i="0">
                <a:solidFill>
                  <a:srgbClr val="E4AA18"/>
                </a:solidFill>
                <a:latin typeface="Fraunces"/>
              </a:rPr>
              <a:t>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60520" y="1737360"/>
            <a:ext cx="0" cy="3383280"/>
          </a:xfrm>
          <a:prstGeom prst="line">
            <a:avLst/>
          </a:prstGeom>
          <a:ln w="190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0" y="1737360"/>
            <a:ext cx="6949440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4200" b="1" i="0">
                <a:solidFill>
                  <a:srgbClr val="FFF9EE"/>
                </a:solidFill>
                <a:latin typeface="Fraunces"/>
              </a:rPr>
              <a:t>Otros péptidos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069080"/>
            <a:ext cx="6766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9BAFA4"/>
                </a:solidFill>
                <a:latin typeface="Archivo"/>
              </a:rPr>
              <a:t>Retatrutida y el eje de la hormona de crecimiento.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Dr. Marco Sosa · Péptidos en sobrepeso y obesidad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4881798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488179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RETATRUTIDA · EN INVESTIGACIÓN, SIN APROBACIÓN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Las dos formas de medir la pérdida de peso en TRIUMPH-4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5272887" cy="3611880"/>
          </a:xfrm>
          <a:prstGeom prst="roundRect">
            <a:avLst>
              <a:gd name="adj" fmla="val 2025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47242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173F33"/>
                </a:solidFill>
                <a:latin typeface="Fraunces"/>
              </a:rPr>
              <a:t>Estimando de eficacia (titular)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3017520"/>
            <a:ext cx="4724247" cy="0"/>
          </a:xfrm>
          <a:prstGeom prst="line">
            <a:avLst/>
          </a:prstGeom>
          <a:ln w="1270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3200400"/>
            <a:ext cx="4724247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56032">
              <a:lnSpc>
                <a:spcPct val="112000"/>
              </a:lnSpc>
              <a:spcAft>
                <a:spcPts val="800"/>
              </a:spcAft>
              <a:buClr>
                <a:srgbClr val="1F5142"/>
              </a:buClr>
              <a:buFont typeface="Arial"/>
              <a:buChar char="■"/>
            </a:pPr>
            <a:r>
              <a:rPr sz="1600" b="0" i="0">
                <a:solidFill>
                  <a:srgbClr val="15261F"/>
                </a:solidFill>
                <a:latin typeface="Archivo"/>
              </a:rPr>
              <a:t>Solo quienes siguen el tratamiento</a:t>
            </a:r>
          </a:p>
          <a:p>
            <a:pPr algn="l" marL="256032" indent="-256032">
              <a:lnSpc>
                <a:spcPct val="112000"/>
              </a:lnSpc>
              <a:spcAft>
                <a:spcPts val="800"/>
              </a:spcAft>
              <a:buClr>
                <a:srgbClr val="1F5142"/>
              </a:buClr>
              <a:buFont typeface="Arial"/>
              <a:buChar char="■"/>
            </a:pPr>
            <a:r>
              <a:rPr sz="1600" b="0" i="0">
                <a:solidFill>
                  <a:srgbClr val="15261F"/>
                </a:solidFill>
                <a:latin typeface="Archivo"/>
              </a:rPr>
              <a:t>12 mg: −28,7 %</a:t>
            </a:r>
          </a:p>
          <a:p>
            <a:pPr algn="l" marL="256032" indent="-256032">
              <a:lnSpc>
                <a:spcPct val="112000"/>
              </a:lnSpc>
              <a:spcAft>
                <a:spcPts val="800"/>
              </a:spcAft>
              <a:buClr>
                <a:srgbClr val="1F5142"/>
              </a:buClr>
              <a:buFont typeface="Arial"/>
              <a:buChar char="■"/>
            </a:pPr>
            <a:r>
              <a:rPr sz="1600" b="0" i="0">
                <a:solidFill>
                  <a:srgbClr val="15261F"/>
                </a:solidFill>
                <a:latin typeface="Archivo"/>
              </a:rPr>
              <a:t>9 mg: −26,4 %</a:t>
            </a:r>
          </a:p>
          <a:p>
            <a:pPr algn="l" marL="256032" indent="-256032">
              <a:lnSpc>
                <a:spcPct val="112000"/>
              </a:lnSpc>
              <a:spcAft>
                <a:spcPts val="800"/>
              </a:spcAft>
              <a:buClr>
                <a:srgbClr val="1F5142"/>
              </a:buClr>
              <a:buFont typeface="Arial"/>
              <a:buChar char="■"/>
            </a:pPr>
            <a:r>
              <a:rPr sz="1600" b="0" i="0">
                <a:solidFill>
                  <a:srgbClr val="15261F"/>
                </a:solidFill>
                <a:latin typeface="Archivo"/>
              </a:rPr>
              <a:t>Placebo: −2,1 %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240280"/>
            <a:ext cx="5272887" cy="3611880"/>
          </a:xfrm>
          <a:prstGeom prst="roundRect">
            <a:avLst>
              <a:gd name="adj" fmla="val 2025"/>
            </a:avLst>
          </a:prstGeom>
          <a:solidFill>
            <a:srgbClr val="1F5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047" y="2423160"/>
            <a:ext cx="47242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9EE"/>
                </a:solidFill>
                <a:latin typeface="Fraunces"/>
              </a:rPr>
              <a:t>Régimen de tratamiento (todos)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53047" y="3017520"/>
            <a:ext cx="4724248" cy="0"/>
          </a:xfrm>
          <a:prstGeom prst="line">
            <a:avLst/>
          </a:prstGeom>
          <a:ln w="1270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53047" y="3200400"/>
            <a:ext cx="4724247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56032">
              <a:lnSpc>
                <a:spcPct val="112000"/>
              </a:lnSpc>
              <a:spcAft>
                <a:spcPts val="800"/>
              </a:spcAft>
              <a:buClr>
                <a:srgbClr val="E4AA18"/>
              </a:buClr>
              <a:buFont typeface="Arial"/>
              <a:buChar char="■"/>
            </a:pPr>
            <a:r>
              <a:rPr sz="1600" b="0" i="0">
                <a:solidFill>
                  <a:srgbClr val="FFF9EE"/>
                </a:solidFill>
                <a:latin typeface="Archivo"/>
              </a:rPr>
              <a:t>Todos los participantes, sigan o no</a:t>
            </a:r>
          </a:p>
          <a:p>
            <a:pPr algn="l" marL="256032" indent="-256032">
              <a:lnSpc>
                <a:spcPct val="112000"/>
              </a:lnSpc>
              <a:spcAft>
                <a:spcPts val="800"/>
              </a:spcAft>
              <a:buClr>
                <a:srgbClr val="E4AA18"/>
              </a:buClr>
              <a:buFont typeface="Arial"/>
              <a:buChar char="■"/>
            </a:pPr>
            <a:r>
              <a:rPr sz="1600" b="0" i="0">
                <a:solidFill>
                  <a:srgbClr val="FFF9EE"/>
                </a:solidFill>
                <a:latin typeface="Archivo"/>
              </a:rPr>
              <a:t>12 mg: −23,7 %</a:t>
            </a:r>
          </a:p>
          <a:p>
            <a:pPr algn="l" marL="256032" indent="-256032">
              <a:lnSpc>
                <a:spcPct val="112000"/>
              </a:lnSpc>
              <a:spcAft>
                <a:spcPts val="800"/>
              </a:spcAft>
              <a:buClr>
                <a:srgbClr val="E4AA18"/>
              </a:buClr>
              <a:buFont typeface="Arial"/>
              <a:buChar char="■"/>
            </a:pPr>
            <a:r>
              <a:rPr sz="1600" b="0" i="0">
                <a:solidFill>
                  <a:srgbClr val="FFF9EE"/>
                </a:solidFill>
                <a:latin typeface="Archivo"/>
              </a:rPr>
              <a:t>9 mg: −20,0 %</a:t>
            </a:r>
          </a:p>
          <a:p>
            <a:pPr algn="l" marL="256032" indent="-256032">
              <a:lnSpc>
                <a:spcPct val="112000"/>
              </a:lnSpc>
              <a:spcAft>
                <a:spcPts val="800"/>
              </a:spcAft>
              <a:buClr>
                <a:srgbClr val="E4AA18"/>
              </a:buClr>
              <a:buFont typeface="Arial"/>
              <a:buChar char="■"/>
            </a:pPr>
            <a:r>
              <a:rPr sz="1600" b="0" i="0">
                <a:solidFill>
                  <a:srgbClr val="FFF9EE"/>
                </a:solidFill>
                <a:latin typeface="Archivo"/>
              </a:rPr>
              <a:t>Placebo: −4,6 %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E70"/>
                </a:solidFill>
                <a:latin typeface="Archivo"/>
              </a:rPr>
              <a:t>TRIUMPH-4: obesidad y artrosis de rodilla, 68 semanas, 9 y 12 mg semanales (se empieza con 2 mg). Resultados preliminares (HCPLive, Rheum Live). TRIUMPH-1, 80 semanas, régimen de tratamiento: 12 mg −25,0 %.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 en sobrepeso y obesidad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2713207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71320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SEGURIDAD DE RETATRUTIDA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Lo que se ha visto en TRIUMPH-4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3466490" cy="3291840"/>
          </a:xfrm>
          <a:prstGeom prst="roundRect">
            <a:avLst>
              <a:gd name="adj" fmla="val 2222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468880"/>
            <a:ext cx="2954426" cy="6791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73F33"/>
                </a:solidFill>
                <a:latin typeface="Archivo"/>
              </a:rPr>
              <a:t>Digestivos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221228"/>
            <a:ext cx="2954426" cy="21097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Náuseas en 38 % (9 mg) y 43 % (12 mg), frente a 10 % con placebo.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2602" y="2240280"/>
            <a:ext cx="3466490" cy="3291840"/>
          </a:xfrm>
          <a:prstGeom prst="roundRect">
            <a:avLst>
              <a:gd name="adj" fmla="val 2222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8634" y="2468880"/>
            <a:ext cx="2954426" cy="6791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73F33"/>
                </a:solidFill>
                <a:latin typeface="Archivo"/>
              </a:rPr>
              <a:t>Sensibilidad de la piel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8634" y="3221228"/>
            <a:ext cx="2954426" cy="21097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Disestesia en 9 % (9 mg) y 21 % (12 mg), frente a 0,7 %.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5124" y="2240280"/>
            <a:ext cx="3466490" cy="3291840"/>
          </a:xfrm>
          <a:prstGeom prst="roundRect">
            <a:avLst>
              <a:gd name="adj" fmla="val 2222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1156" y="2468880"/>
            <a:ext cx="2954426" cy="6791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73F33"/>
                </a:solidFill>
                <a:latin typeface="Archivo"/>
              </a:rPr>
              <a:t>Suspensión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1156" y="3221228"/>
            <a:ext cx="2954426" cy="21097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Por efectos adversos: 12 % (9 mg), 18 % (12 mg) y 4 % con placebo.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E70"/>
                </a:solidFill>
                <a:latin typeface="Archivo"/>
              </a:rPr>
              <a:t>Fuente: TRIUMPH-4, reseñas de prensa médica; TRIUMPH-2 (PMID 42810372).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 en sobrepeso y obesidad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3501786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350178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EJE DE LA HORMONA DE CRECIMIENTO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Qué respaldan las fuentes oficiales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3466490" cy="3291840"/>
          </a:xfrm>
          <a:prstGeom prst="roundRect">
            <a:avLst>
              <a:gd name="adj" fmla="val 2222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468880"/>
            <a:ext cx="2954426" cy="649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73F33"/>
                </a:solidFill>
                <a:latin typeface="Archivo"/>
              </a:rPr>
              <a:t>Tesamorelina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191256"/>
            <a:ext cx="2954426" cy="2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Aprobada solo para la grasa abdominal en VIH. La ficha dice que no es para manejar el peso.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2602" y="2240280"/>
            <a:ext cx="3466490" cy="3291840"/>
          </a:xfrm>
          <a:prstGeom prst="roundRect">
            <a:avLst>
              <a:gd name="adj" fmla="val 2222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8634" y="2468880"/>
            <a:ext cx="2954426" cy="649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73F33"/>
                </a:solidFill>
                <a:latin typeface="Archivo"/>
              </a:rPr>
              <a:t>Sermorelina y mecasermina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8634" y="3191256"/>
            <a:ext cx="2954426" cy="2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Uso pediátrico por déficit de GH o de IGF-1. No tratan la obesidad.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5124" y="2240280"/>
            <a:ext cx="3466490" cy="3291840"/>
          </a:xfrm>
          <a:prstGeom prst="roundRect">
            <a:avLst>
              <a:gd name="adj" fmla="val 2222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1156" y="2468880"/>
            <a:ext cx="2954426" cy="649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73F33"/>
                </a:solidFill>
                <a:latin typeface="Archivo"/>
              </a:rPr>
              <a:t>Secretagogos sin aprobación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1156" y="3191256"/>
            <a:ext cx="2954426" cy="2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No hay ensayos que respalden su uso en obesidad; pueden dar hambre.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E70"/>
                </a:solidFill>
                <a:latin typeface="Archivo"/>
              </a:rPr>
              <a:t>Fuente: ficha FDA de Egrifta; Falutz 2007 (PMID 18057338); Prakash 1999 (PMID 18031173).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 en sobrepeso y obesidad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51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3291840" cy="3108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19000" b="1" i="0">
                <a:solidFill>
                  <a:srgbClr val="E4AA18"/>
                </a:solidFill>
                <a:latin typeface="Fraunces"/>
              </a:rPr>
              <a:t>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60520" y="1737360"/>
            <a:ext cx="0" cy="3383280"/>
          </a:xfrm>
          <a:prstGeom prst="line">
            <a:avLst/>
          </a:prstGeom>
          <a:ln w="190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0" y="1737360"/>
            <a:ext cx="6949440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4200" b="1" i="0">
                <a:solidFill>
                  <a:srgbClr val="FFF9EE"/>
                </a:solidFill>
                <a:latin typeface="Fraunces"/>
              </a:rPr>
              <a:t>Seguridad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069080"/>
            <a:ext cx="6766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9BAFA4"/>
                </a:solidFill>
                <a:latin typeface="Archivo"/>
              </a:rPr>
              <a:t>Contraindicaciones y precauciones.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Dr. Marco Sosa · Péptidos en sobrepeso y obesidad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2121773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12177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CONTRAINDICACIONES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No usar si hay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3466490" cy="3108960"/>
          </a:xfrm>
          <a:prstGeom prst="roundRect">
            <a:avLst>
              <a:gd name="adj" fmla="val 2352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468880"/>
            <a:ext cx="2954426" cy="7391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 i="0">
                <a:solidFill>
                  <a:srgbClr val="173F33"/>
                </a:solidFill>
                <a:latin typeface="Archivo"/>
              </a:rPr>
              <a:t>Cáncer medular de tiroides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281172"/>
            <a:ext cx="2954426" cy="186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Antecedente personal o familiar.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2602" y="2240280"/>
            <a:ext cx="3466490" cy="3108960"/>
          </a:xfrm>
          <a:prstGeom prst="roundRect">
            <a:avLst>
              <a:gd name="adj" fmla="val 2352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8634" y="2468880"/>
            <a:ext cx="2954426" cy="7391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 i="0">
                <a:solidFill>
                  <a:srgbClr val="173F33"/>
                </a:solidFill>
                <a:latin typeface="Archivo"/>
              </a:rPr>
              <a:t>MEN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8634" y="3281172"/>
            <a:ext cx="2954426" cy="186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Neoplasia endocrina múltiple tipo 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5124" y="2240280"/>
            <a:ext cx="3466490" cy="3108960"/>
          </a:xfrm>
          <a:prstGeom prst="roundRect">
            <a:avLst>
              <a:gd name="adj" fmla="val 2352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1156" y="2468880"/>
            <a:ext cx="2954426" cy="7391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 i="0">
                <a:solidFill>
                  <a:srgbClr val="173F33"/>
                </a:solidFill>
                <a:latin typeface="Archivo"/>
              </a:rPr>
              <a:t>Alergia grave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1156" y="3281172"/>
            <a:ext cx="2954426" cy="186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Al medicamento o a sus componentes.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E70"/>
                </a:solidFill>
                <a:latin typeface="Archivo"/>
              </a:rPr>
              <a:t>Fuente: fichas oficiales de la FDA (Wegovy, Zepbound, Saxenda) y ensayos STEP 1, SURMOUNT-1 y SCALE.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 en sobrepeso y obesidad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1530339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5303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PRECAUCIONES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Se evalúan caso por caso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3466490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468880"/>
            <a:ext cx="2954426" cy="364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73F33"/>
                </a:solidFill>
                <a:latin typeface="Archivo"/>
              </a:rPr>
              <a:t>Páncreas y vesícula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906522"/>
            <a:ext cx="2954426" cy="8790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Pancreatitis previa, cálculos.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2602" y="2240280"/>
            <a:ext cx="3466490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8634" y="2468880"/>
            <a:ext cx="2954426" cy="364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73F33"/>
                </a:solidFill>
                <a:latin typeface="Archivo"/>
              </a:rPr>
              <a:t>Estómago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8634" y="2906522"/>
            <a:ext cx="2954426" cy="8790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Gastroparesia grave: no se recomienda.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5124" y="2240280"/>
            <a:ext cx="3466490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1156" y="2468880"/>
            <a:ext cx="2954426" cy="364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73F33"/>
                </a:solidFill>
                <a:latin typeface="Archivo"/>
              </a:rPr>
              <a:t>Riñón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1156" y="2906522"/>
            <a:ext cx="2954426" cy="8790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Riesgo de deshidratación por vómito o diarrea.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42816"/>
            <a:ext cx="3466490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471416"/>
            <a:ext cx="2954426" cy="364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73F33"/>
                </a:solidFill>
                <a:latin typeface="Archivo"/>
              </a:rPr>
              <a:t>Diabetes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909058"/>
            <a:ext cx="2954426" cy="8790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Retinopatía; hipoglucemia con insulina o sulfonilureas.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2602" y="4242816"/>
            <a:ext cx="3466490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8634" y="4471416"/>
            <a:ext cx="2954426" cy="364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73F33"/>
                </a:solidFill>
                <a:latin typeface="Archivo"/>
              </a:rPr>
              <a:t>Ánimo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8634" y="4909058"/>
            <a:ext cx="2954426" cy="8790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Vigilar depresión e ideas de suicidio.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5124" y="4242816"/>
            <a:ext cx="3466490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1156" y="4471416"/>
            <a:ext cx="2954426" cy="364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73F33"/>
                </a:solidFill>
                <a:latin typeface="Archivo"/>
              </a:rPr>
              <a:t>Embarazo y anestesia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1156" y="4909058"/>
            <a:ext cx="2954426" cy="8790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Evitar embarazo; avisar antes de sedación.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E70"/>
                </a:solidFill>
                <a:latin typeface="Archivo"/>
              </a:rPr>
              <a:t>Fuente: fichas oficiales de la FDA (Wegovy, Zepbound, Saxenda) y ensayos STEP 1, SURMOUNT-1 y SCALE.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 en sobrepeso y obesidad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51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3291840" cy="3108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19000" b="1" i="0">
                <a:solidFill>
                  <a:srgbClr val="E4AA18"/>
                </a:solidFill>
                <a:latin typeface="Fraunces"/>
              </a:rPr>
              <a:t>4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60520" y="1737360"/>
            <a:ext cx="0" cy="3383280"/>
          </a:xfrm>
          <a:prstGeom prst="line">
            <a:avLst/>
          </a:prstGeom>
          <a:ln w="190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0" y="1737360"/>
            <a:ext cx="6949440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4200" b="1" i="0">
                <a:solidFill>
                  <a:srgbClr val="FFF9EE"/>
                </a:solidFill>
                <a:latin typeface="Fraunces"/>
              </a:rPr>
              <a:t>Signos de alarma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069080"/>
            <a:ext cx="6766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9BAFA4"/>
                </a:solidFill>
                <a:latin typeface="Archivo"/>
              </a:rPr>
              <a:t>Cuándo consultar o ir a urgencias.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Dr. Marco Sosa · Péptidos en sobrepeso y obesidad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20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1924629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92462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PARA EL PACIENTE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Consulta o urgencias si presenta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3466490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468880"/>
            <a:ext cx="2954426" cy="6192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73F33"/>
                </a:solidFill>
                <a:latin typeface="Archivo"/>
              </a:rPr>
              <a:t>Dolor fuerte de abdomen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161284"/>
            <a:ext cx="2954426" cy="6243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Puede irse a la espalda: pancreatitis.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2602" y="2240280"/>
            <a:ext cx="3466490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8634" y="2468880"/>
            <a:ext cx="2954426" cy="6192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73F33"/>
                </a:solidFill>
                <a:latin typeface="Archivo"/>
              </a:rPr>
              <a:t>Dolor arriba a la derecha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8634" y="3161284"/>
            <a:ext cx="2954426" cy="6243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Con fiebre o piel amarilla: vesícula.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5124" y="2240280"/>
            <a:ext cx="3466490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1156" y="2468880"/>
            <a:ext cx="2954426" cy="6192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73F33"/>
                </a:solidFill>
                <a:latin typeface="Archivo"/>
              </a:rPr>
              <a:t>Vómito o diarrea sin parar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1156" y="3161284"/>
            <a:ext cx="2954426" cy="6243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Poca orina y mareo: deshidratación y riñón.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42816"/>
            <a:ext cx="3466490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471416"/>
            <a:ext cx="2954426" cy="364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73F33"/>
                </a:solidFill>
                <a:latin typeface="Archivo"/>
              </a:rPr>
              <a:t>Cara o labios hinchados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909058"/>
            <a:ext cx="2954426" cy="8790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Dificultad para respirar: alergia grave.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2602" y="4242816"/>
            <a:ext cx="3466490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8634" y="4471416"/>
            <a:ext cx="2954426" cy="364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73F33"/>
                </a:solidFill>
                <a:latin typeface="Archivo"/>
              </a:rPr>
              <a:t>Bulto en el cuello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8634" y="4909058"/>
            <a:ext cx="2954426" cy="8790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Dificultad para tragar o ronquera persistente.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5124" y="4242816"/>
            <a:ext cx="3466490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1156" y="4471416"/>
            <a:ext cx="2954426" cy="364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73F33"/>
                </a:solidFill>
                <a:latin typeface="Archivo"/>
              </a:rPr>
              <a:t>Ánimo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1156" y="4909058"/>
            <a:ext cx="2954426" cy="8790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Tristeza profunda o ideas de hacerse daño.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E70"/>
                </a:solidFill>
                <a:latin typeface="Archivo"/>
              </a:rPr>
              <a:t>Fuente: fichas oficiales de la FDA (Wegovy, Zepbound, Saxenda) y ensayos STEP 1, SURMOUNT-1 y SCALE.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 en sobrepeso y obesidad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21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2121773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12177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SEGÚN EL DR. MARCO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Cuatro fases del manejo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5327751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468880"/>
            <a:ext cx="4815687" cy="409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73F33"/>
                </a:solidFill>
                <a:latin typeface="Archivo"/>
              </a:rPr>
              <a:t>1. Preparación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951480"/>
            <a:ext cx="4815687" cy="834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Primera semana: valoración, contraindicaciones y hábitos base.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3863" y="2240280"/>
            <a:ext cx="5327751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9895" y="2468880"/>
            <a:ext cx="4815687" cy="409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73F33"/>
                </a:solidFill>
                <a:latin typeface="Archivo"/>
              </a:rPr>
              <a:t>2. Intensificación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9895" y="2951480"/>
            <a:ext cx="4815687" cy="834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Unas 40 semanas: dosis baja y escalada; 1 a 2 kg por 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242816"/>
            <a:ext cx="5327751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471416"/>
            <a:ext cx="4815687" cy="409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73F33"/>
                </a:solidFill>
                <a:latin typeface="Archivo"/>
              </a:rPr>
              <a:t>3. Transición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954016"/>
            <a:ext cx="4815687" cy="834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Unas 24 semanas: meseta y dosis de mantenimiento.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3863" y="4242816"/>
            <a:ext cx="5327751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9895" y="4471416"/>
            <a:ext cx="4815687" cy="409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73F33"/>
                </a:solidFill>
                <a:latin typeface="Archivo"/>
              </a:rPr>
              <a:t>4. Mantenimiento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9895" y="4954016"/>
            <a:ext cx="4815687" cy="834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Largo plazo: seguimiento y hábitos; muchas veces se continúa.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E70"/>
                </a:solidFill>
                <a:latin typeface="Archivo"/>
              </a:rPr>
              <a:t>Fuente: presentación del Dr. Marco Sosa, diap. 60 a 63.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 en sobrepeso y obesidad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1924629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92462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PARA EL PACIENTE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Otras señales para consultar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5327751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468880"/>
            <a:ext cx="4815687" cy="3944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73F33"/>
                </a:solidFill>
                <a:latin typeface="Archivo"/>
              </a:rPr>
              <a:t>Pérdida súbita de visión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936494"/>
            <a:ext cx="4815687" cy="849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Muy rara con semaglutida (EMA): consultar sin demora.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3863" y="2240280"/>
            <a:ext cx="5327751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9895" y="2468880"/>
            <a:ext cx="4815687" cy="3944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73F33"/>
                </a:solidFill>
                <a:latin typeface="Archivo"/>
              </a:rPr>
              <a:t>Hipoglucemia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9895" y="2936494"/>
            <a:ext cx="4815687" cy="849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Temblor, sudor frío, confusión, si usa insulina o sulfonilureas.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242816"/>
            <a:ext cx="5327751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471416"/>
            <a:ext cx="4815687" cy="3944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73F33"/>
                </a:solidFill>
                <a:latin typeface="Archivo"/>
              </a:rPr>
              <a:t>Pulso acelerado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939030"/>
            <a:ext cx="4815687" cy="849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Palpitaciones o latidos muy rápidos.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3863" y="4242816"/>
            <a:ext cx="5327751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9895" y="4471416"/>
            <a:ext cx="4815687" cy="3944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73F33"/>
                </a:solidFill>
                <a:latin typeface="Archivo"/>
              </a:rPr>
              <a:t>Embarazo o sospecha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9895" y="4939030"/>
            <a:ext cx="4815687" cy="849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Suspender y consultar al médico.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E70"/>
                </a:solidFill>
                <a:latin typeface="Archivo"/>
              </a:rPr>
              <a:t>Fuentes: fichas FDA y comunicado del PRAC de la EMA.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 en sobrepeso y obesidad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23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51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737360"/>
            <a:ext cx="82296" cy="2743200"/>
          </a:xfrm>
          <a:prstGeom prst="rect">
            <a:avLst/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10241280" cy="3291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FFF9EE"/>
                </a:solidFill>
                <a:latin typeface="Fraunces"/>
              </a:rPr>
              <a:t>Cuida el </a:t>
            </a:r>
            <a:r>
              <a:rPr sz="4000" b="1" i="0">
                <a:solidFill>
                  <a:srgbClr val="E4AA18"/>
                </a:solidFill>
                <a:latin typeface="Fraunces"/>
              </a:rPr>
              <a:t>músculo</a:t>
            </a:r>
            <a:r>
              <a:rPr sz="4000" b="1" i="0">
                <a:solidFill>
                  <a:srgbClr val="FFF9EE"/>
                </a:solidFill>
                <a:latin typeface="Fraunces"/>
              </a:rPr>
              <a:t> mientras bajas de peso.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83480"/>
            <a:ext cx="9875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9BAFA4"/>
                </a:solidFill>
                <a:latin typeface="Archivo"/>
              </a:rPr>
              <a:t>Proteína en cada comida y entrenamiento de fuerza. Es lo que recomienda el consenso europeo de 2026.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Dr. Marco Sosa · Péptidos en sobrepeso y obesidad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51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3291840" cy="3108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19000" b="1" i="0">
                <a:solidFill>
                  <a:srgbClr val="E4AA18"/>
                </a:solidFill>
                <a:latin typeface="Fraunces"/>
              </a:rPr>
              <a:t>5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60520" y="1737360"/>
            <a:ext cx="0" cy="3383280"/>
          </a:xfrm>
          <a:prstGeom prst="line">
            <a:avLst/>
          </a:prstGeom>
          <a:ln w="190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0" y="1737360"/>
            <a:ext cx="6949440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4200" b="1" i="0">
                <a:solidFill>
                  <a:srgbClr val="FFF9EE"/>
                </a:solidFill>
                <a:latin typeface="Fraunces"/>
              </a:rPr>
              <a:t>Recomendaciones de uso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069080"/>
            <a:ext cx="6766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9BAFA4"/>
                </a:solidFill>
                <a:latin typeface="Archivo"/>
              </a:rPr>
              <a:t>Cómo usarlo bien.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Dr. Marco Sosa · Péptidos en sobrepeso y obesidad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25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1826056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8260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RECOMENDACIONES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Seis claves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3466490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468880"/>
            <a:ext cx="2954426" cy="364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73F33"/>
                </a:solidFill>
                <a:latin typeface="Archivo"/>
              </a:rPr>
              <a:t>Receta y seguimiento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906522"/>
            <a:ext cx="2954426" cy="8790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Solo productos con registro, en farmacias autorizadas.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2602" y="2240280"/>
            <a:ext cx="3466490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8634" y="2468880"/>
            <a:ext cx="2954426" cy="364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73F33"/>
                </a:solidFill>
                <a:latin typeface="Archivo"/>
              </a:rPr>
              <a:t>Es un complemento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8634" y="2906522"/>
            <a:ext cx="2954426" cy="8790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Plan alimentario y actividad física siempre.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5124" y="2240280"/>
            <a:ext cx="3466490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1156" y="2468880"/>
            <a:ext cx="2954426" cy="364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73F33"/>
                </a:solidFill>
                <a:latin typeface="Archivo"/>
              </a:rPr>
              <a:t>Proteger el músculo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1156" y="2906522"/>
            <a:ext cx="2954426" cy="8790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Proteína en cada comida y fuerza dos veces por semana.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42816"/>
            <a:ext cx="3466490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471416"/>
            <a:ext cx="2954426" cy="6192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73F33"/>
                </a:solidFill>
                <a:latin typeface="Archivo"/>
              </a:rPr>
              <a:t>Comer despacio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5163820"/>
            <a:ext cx="2954426" cy="6243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Porciones pequeñas, poca grasa y buena hidratación.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2602" y="4242816"/>
            <a:ext cx="3466490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8634" y="4471416"/>
            <a:ext cx="2954426" cy="6192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73F33"/>
                </a:solidFill>
                <a:latin typeface="Archivo"/>
              </a:rPr>
              <a:t>Titular con paciencia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8634" y="5163820"/>
            <a:ext cx="2954426" cy="6243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No saltar pasos de dosis.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5124" y="4242816"/>
            <a:ext cx="3466490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1156" y="4471416"/>
            <a:ext cx="2954426" cy="6192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73F33"/>
                </a:solidFill>
                <a:latin typeface="Archivo"/>
              </a:rPr>
              <a:t>Pensar en el mantenimiento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1156" y="5163820"/>
            <a:ext cx="2954426" cy="6243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Al suspender, el peso suele recuperarse.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E70"/>
                </a:solidFill>
                <a:latin typeface="Archivo"/>
              </a:rPr>
              <a:t>Fuente: fichas oficiales de la FDA (Wegovy, Zepbound, Saxenda) y ensayos STEP 1, SURMOUNT-1 y SCALE.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 en sobrepeso y obesidad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1530339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5303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9EE"/>
                </a:solidFill>
                <a:latin typeface="Fraunces"/>
              </a:rPr>
              <a:t>Tres ideas para llevarte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E4AA18"/>
                </a:solidFill>
                <a:latin typeface="Fraunce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221991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FFF9EE"/>
                </a:solidFill>
                <a:latin typeface="Archivo"/>
              </a:rPr>
              <a:t>Registrados y con receta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240279"/>
            <a:ext cx="6522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9BAFA4"/>
                </a:solidFill>
                <a:latin typeface="Archivo"/>
              </a:rPr>
              <a:t>Semaglutida, liraglutida y tirzepatida.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3008375"/>
            <a:ext cx="10911535" cy="0"/>
          </a:xfrm>
          <a:prstGeom prst="line">
            <a:avLst/>
          </a:prstGeom>
          <a:ln w="63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3063239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E4AA18"/>
                </a:solidFill>
                <a:latin typeface="Fraunce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090671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FFF9EE"/>
                </a:solidFill>
                <a:latin typeface="Archivo"/>
              </a:rPr>
              <a:t>Titular y vigilar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108959"/>
            <a:ext cx="6522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9BAFA4"/>
                </a:solidFill>
                <a:latin typeface="Archivo"/>
              </a:rPr>
              <a:t>Subir despacio y conocer los signos de alarma.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3877056"/>
            <a:ext cx="10911535" cy="0"/>
          </a:xfrm>
          <a:prstGeom prst="line">
            <a:avLst/>
          </a:prstGeom>
          <a:ln w="63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393192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E4AA18"/>
                </a:solidFill>
                <a:latin typeface="Fraunce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959352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FFF9EE"/>
                </a:solidFill>
                <a:latin typeface="Archivo"/>
              </a:rPr>
              <a:t>Enfermedad crónica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977639"/>
            <a:ext cx="6522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9BAFA4"/>
                </a:solidFill>
                <a:latin typeface="Archivo"/>
              </a:rPr>
              <a:t>Se acompaña con hábitos y se planea el mantenimiento.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Dr. Marco Sosa · Péptidos en sobrepeso y obesidad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6949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FFF9EE"/>
                </a:solidFill>
                <a:latin typeface="Fraunces"/>
              </a:rPr>
              <a:t>Guía para el médico que prescribe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67665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56032">
              <a:lnSpc>
                <a:spcPct val="115000"/>
              </a:lnSpc>
              <a:spcAft>
                <a:spcPts val="1000"/>
              </a:spcAft>
              <a:buClr>
                <a:srgbClr val="E4AA18"/>
              </a:buClr>
              <a:buFont typeface="Arial"/>
              <a:buChar char="■"/>
            </a:pPr>
            <a:r>
              <a:rPr sz="1800" b="0" i="0">
                <a:solidFill>
                  <a:srgbClr val="FFF9EE"/>
                </a:solidFill>
                <a:latin typeface="Archivo"/>
              </a:rPr>
              <a:t>Medicamentos de receta con registro sanitario</a:t>
            </a:r>
          </a:p>
          <a:p>
            <a:pPr algn="l" marL="256032" indent="-256032">
              <a:lnSpc>
                <a:spcPct val="115000"/>
              </a:lnSpc>
              <a:spcAft>
                <a:spcPts val="1000"/>
              </a:spcAft>
              <a:buClr>
                <a:srgbClr val="E4AA18"/>
              </a:buClr>
              <a:buFont typeface="Arial"/>
              <a:buChar char="■"/>
            </a:pPr>
            <a:r>
              <a:rPr sz="1800" b="0" i="0">
                <a:solidFill>
                  <a:srgbClr val="FFF9EE"/>
                </a:solidFill>
                <a:latin typeface="Archivo"/>
              </a:rPr>
              <a:t>Verificar siempre la ficha aprobada en el país</a:t>
            </a:r>
          </a:p>
          <a:p>
            <a:pPr algn="l" marL="256032" indent="-256032">
              <a:lnSpc>
                <a:spcPct val="115000"/>
              </a:lnSpc>
              <a:spcAft>
                <a:spcPts val="1000"/>
              </a:spcAft>
              <a:buClr>
                <a:srgbClr val="E4AA18"/>
              </a:buClr>
              <a:buFont typeface="Arial"/>
              <a:buChar char="■"/>
            </a:pPr>
            <a:r>
              <a:rPr sz="1800" b="0" i="0">
                <a:solidFill>
                  <a:srgbClr val="FFF9EE"/>
                </a:solidFill>
                <a:latin typeface="Archivo"/>
              </a:rPr>
              <a:t>Material educativo: no reemplaza la consulta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4617720"/>
            <a:ext cx="10911535" cy="1371600"/>
          </a:xfrm>
          <a:prstGeom prst="roundRect">
            <a:avLst>
              <a:gd name="adj" fmla="val 5333"/>
            </a:avLst>
          </a:prstGeom>
          <a:solidFill>
            <a:srgbClr val="1F5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709160"/>
            <a:ext cx="9082735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9BAFA4"/>
                </a:solidFill>
                <a:latin typeface="Archivo"/>
              </a:rPr>
              <a:t>Las masterclasses son informativas y educativas. No constituyen diagnóstico, tratamiento ni prescripción personalizada, y no reemplazan la consulta médica. El Dr. Marco Sosa es Director Científico de Lumineight y percibe una participación sobre sus ventas; se declara para que lo tengas en cuenta al valorar lo que escuches.</a:t>
            </a:r>
          </a:p>
        </p:txBody>
      </p:sp>
      <p:sp>
        <p:nvSpPr>
          <p:cNvPr id="6" name="Oval 5"/>
          <p:cNvSpPr/>
          <p:nvPr/>
        </p:nvSpPr>
        <p:spPr>
          <a:xfrm>
            <a:off x="10500055" y="4773168"/>
            <a:ext cx="1051560" cy="1051560"/>
          </a:xfrm>
          <a:prstGeom prst="ellipse">
            <a:avLst/>
          </a:prstGeom>
          <a:solidFill>
            <a:srgbClr val="FFF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ello-red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8932" y="4809744"/>
            <a:ext cx="733806" cy="978408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Dr. Marco Sosa · Péptidos en sobrepeso y obesidad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28 /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