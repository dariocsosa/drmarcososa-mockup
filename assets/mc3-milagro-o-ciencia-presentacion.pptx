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Saludo. Es la tercera noche: recordar que las anteriores quedan en el canal.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el recorrido. Es información educativa para entender, no para automedicarse.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de apertura. Marco: ni entusiasmo ciego ni rechazo.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respuestas. Casi siempre es redes: ahí empieza 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Aminoácido: unidad estructural (20 proteinogénicos, 7 esenciales). Péptido: cadena corta unida por enlaces peptídicos. Proteína: cadena larga y plegada. En EE. UU. la FDA fija 40 aminoácidos: 40 o menos se regula como fármaco; 41 o más, como producto biológico.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Aclarar que «hormona» describe la función, no la 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última línea es la clave de toda la noche.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presentación del Dr. Marco, historia de los péptidos terapéuticos.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mayoría de los péptidos actúan como moléculas de señalización: se unen a receptores específicos de la membrana celular. Agonista: activa el receptor. Agonista parcial: respuesta menor. Antagonista: lo bloquea.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mayoría se usa en situaciones donde los resultados no han sido los deseados. Ahí aparece la promesa.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Comparación general de especificidad y reversibilidad. El perfil de seguridad depende de cada compuesto, su evidencia y su estatus regulatorio: no se generaliza.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Tercer bloque, el núcleo de la noche.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toda «evidencia científica» tiene el mismo peso. Trasladar directamente un resultado animal a una conclusión sobre humanos es uno de los errores más comunes y potencialmente peligrosos al interpretar la literatura sobre péptidos.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promesa de «resultados garantizados» sin fase 3 en esa indicación es una bandera roja.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escala del Dr. Marco en su curso de péptidos. Lo importante: nivel D significa que casi todo lo que sabemos viene de animales, y que la promesa en humanos no está confirmada.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Cuarto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Marco: la misma molécula puede estar en las tres categorías según el país y la indicación. Por eso hay que mirar la indicación concreta.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 con la masterclass 1: el rebote también aparece aquí. Se prescriben; no se improvisan.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para guardar y compartir.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cosas que cualquier persona puede revisar sin ser médico.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regalo de esta noche en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de cierre clínico: información para comprender, no para automedicarse ni reemplazar el acompañamiento clínico.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respuestas. Responder las que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las tres masterclasses.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va el anuncio de la promoción de 48 horas (precios por aprobar por Darío). Leer la declaración sin prisa.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r-marco-sosa-1000.jpg"/>
          <p:cNvPicPr>
            <a:picLocks noChangeAspect="1"/>
          </p:cNvPicPr>
          <p:nvPr/>
        </p:nvPicPr>
        <p:blipFill>
          <a:blip r:embed="rId2"/>
          <a:srcRect l="6808" r="6808"/>
          <a:stretch>
            <a:fillRect/>
          </a:stretch>
        </p:blipFill>
        <p:spPr>
          <a:xfrm>
            <a:off x="7452360" y="0"/>
            <a:ext cx="47393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52360" y="0"/>
            <a:ext cx="73152" cy="68580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3994647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99464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MASTERCLASS GRATUITA EN VIVO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9BAFA4"/>
                </a:solidFill>
                <a:latin typeface="Archivo"/>
              </a:rPr>
              <a:t>Jueves 29 de octubre · 7:00 p. m. hora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4922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9EE"/>
                </a:solidFill>
                <a:latin typeface="Fraunces"/>
              </a:rPr>
              <a:t>¿</a:t>
            </a:r>
            <a:r>
              <a:rPr sz="4400" b="1" i="0">
                <a:solidFill>
                  <a:srgbClr val="E4AA18"/>
                </a:solidFill>
                <a:latin typeface="Fraunces"/>
              </a:rPr>
              <a:t>Milagro de internet</a:t>
            </a:r>
            <a:r>
              <a:rPr sz="4400" b="1" i="0">
                <a:solidFill>
                  <a:srgbClr val="FFF9EE"/>
                </a:solidFill>
                <a:latin typeface="Fraunces"/>
              </a:rPr>
              <a:t> o ciencia médica real?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Los péptidos están en todas partes. Hoy separamos la evidencia de la promesa.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5486400"/>
            <a:ext cx="1051560" cy="1051560"/>
          </a:xfrm>
          <a:prstGeom prst="ellipse">
            <a:avLst/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llo-redon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7" y="5522976"/>
            <a:ext cx="733806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39" y="5596128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9EE"/>
                </a:solidFill>
                <a:latin typeface="Archivo"/>
              </a:rPr>
              <a:t>Dr. Marco Sosa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9EE"/>
                </a:solidFill>
                <a:latin typeface="Archivo"/>
              </a:rPr>
              <a:t>Medicina Integrativa · Registro médico 050330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121773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1217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LO QUE VAMOS A 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Cuatro preguntas para esta noche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535859" cy="3108960"/>
          </a:xfrm>
          <a:prstGeom prst="roundRect">
            <a:avLst>
              <a:gd name="adj" fmla="val 288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5603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72968"/>
            <a:ext cx="2023795" cy="963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Qué es un péptido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210050"/>
            <a:ext cx="2023795" cy="1075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5261F"/>
                </a:solidFill>
                <a:latin typeface="Archivo"/>
              </a:rPr>
              <a:t>Y en qué se diferencia de una proteína.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1971" y="2377440"/>
            <a:ext cx="2535859" cy="3108960"/>
          </a:xfrm>
          <a:prstGeom prst="roundRect">
            <a:avLst>
              <a:gd name="adj" fmla="val 288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25603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172968"/>
            <a:ext cx="2023795" cy="963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Cómo actúa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8003" y="4210050"/>
            <a:ext cx="2023795" cy="1075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5261F"/>
                </a:solidFill>
                <a:latin typeface="Archivo"/>
              </a:rPr>
              <a:t>El lenguaje de los receptores.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2377440"/>
            <a:ext cx="2535859" cy="3108960"/>
          </a:xfrm>
          <a:prstGeom prst="roundRect">
            <a:avLst>
              <a:gd name="adj" fmla="val 288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9895" y="25603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9895" y="3172968"/>
            <a:ext cx="2023795" cy="963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Cómo se mide la 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210050"/>
            <a:ext cx="2023795" cy="1075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5261F"/>
                </a:solidFill>
                <a:latin typeface="Archivo"/>
              </a:rPr>
              <a:t>De la célula en un laboratorio a las personas.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755" y="2377440"/>
            <a:ext cx="2535859" cy="3108960"/>
          </a:xfrm>
          <a:prstGeom prst="roundRect">
            <a:avLst>
              <a:gd name="adj" fmla="val 288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1787" y="25603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1787" y="3172968"/>
            <a:ext cx="2023795" cy="963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Cómo reconocer una promesa engañosa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1787" y="4210050"/>
            <a:ext cx="2023795" cy="10751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5261F"/>
                </a:solidFill>
                <a:latin typeface="Archivo"/>
              </a:rPr>
              <a:t>Banderas rojas y preguntas clave.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737360"/>
            <a:ext cx="82296" cy="2743200"/>
          </a:xfrm>
          <a:prstGeom prst="rect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24128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Si una promesa suena a milagro, pide la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evidencia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83480"/>
            <a:ext cx="9875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No vamos a decir que los péptidos son buenos ni malos. Vamos a aprender a leerlos.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2318918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31891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ESCRÍBELO EN EL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¿Dónde has oído hablar de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péptidos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343400"/>
            <a:ext cx="2185416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9EE"/>
                </a:solidFill>
                <a:latin typeface="Archivo"/>
              </a:rPr>
              <a:t>Redes sociales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54096" y="4343400"/>
            <a:ext cx="1444752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54096" y="4343400"/>
            <a:ext cx="14447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9EE"/>
                </a:solidFill>
                <a:latin typeface="Archivo"/>
              </a:rPr>
              <a:t>Un amigo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7448" y="4343400"/>
            <a:ext cx="1568196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4343400"/>
            <a:ext cx="156819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9EE"/>
                </a:solidFill>
                <a:latin typeface="Archivo"/>
              </a:rPr>
              <a:t>Mi médico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4244" y="4343400"/>
            <a:ext cx="1815084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4244" y="4343400"/>
            <a:ext cx="18150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9EE"/>
                </a:solidFill>
                <a:latin typeface="Archivo"/>
              </a:rPr>
              <a:t>Un gimnasio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BAFA4"/>
                </a:solidFill>
                <a:latin typeface="Archivo"/>
              </a:rPr>
              <a:t>El Dr. Marco responde las que alcance.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Qué es un péptido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Una cadena corta de aminoácidos.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33319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3331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DEFINICIÓN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Del aminoácido a la proteína: una cuestión de largo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0911535" cy="1097280"/>
          </a:xfrm>
          <a:prstGeom prst="roundRect">
            <a:avLst>
              <a:gd name="adj" fmla="val 6666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Aminoácido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4436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 spc="50">
                <a:solidFill>
                  <a:srgbClr val="43554C"/>
                </a:solidFill>
                <a:latin typeface="Archivo"/>
              </a:rPr>
              <a:t>LA UNIDAD</a:t>
            </a:r>
          </a:p>
        </p:txBody>
      </p:sp>
      <p:sp>
        <p:nvSpPr>
          <p:cNvPr id="8" name="Oval 7"/>
          <p:cNvSpPr/>
          <p:nvPr/>
        </p:nvSpPr>
        <p:spPr>
          <a:xfrm>
            <a:off x="3566160" y="2743200"/>
            <a:ext cx="182880" cy="182880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23160"/>
            <a:ext cx="295625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20 estándar; 7 son esenciales.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40"/>
            <a:ext cx="10911535" cy="1097280"/>
          </a:xfrm>
          <a:prstGeom prst="roundRect">
            <a:avLst>
              <a:gd name="adj" fmla="val 6666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Péptido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788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 spc="50">
                <a:solidFill>
                  <a:srgbClr val="43554C"/>
                </a:solidFill>
                <a:latin typeface="Archivo"/>
              </a:rPr>
              <a:t>CADENA CORTA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3977639"/>
            <a:ext cx="182880" cy="182880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31336" y="3977639"/>
            <a:ext cx="182880" cy="182880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96512" y="3977639"/>
            <a:ext cx="182880" cy="182880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61688" y="3977639"/>
            <a:ext cx="182880" cy="182880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3977639"/>
            <a:ext cx="182880" cy="182880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92040" y="3977639"/>
            <a:ext cx="182880" cy="182880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57216" y="3977639"/>
            <a:ext cx="182880" cy="182880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22392" y="3977639"/>
            <a:ext cx="182880" cy="182880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87568" y="3977639"/>
            <a:ext cx="182880" cy="182880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657600"/>
            <a:ext cx="295625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Oligopéptidos: menos de 20 aminoácidos.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10911535" cy="1097280"/>
          </a:xfrm>
          <a:prstGeom prst="roundRect">
            <a:avLst>
              <a:gd name="adj" fmla="val 6666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Proteína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1324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 spc="50">
                <a:solidFill>
                  <a:srgbClr val="43554C"/>
                </a:solidFill>
                <a:latin typeface="Archivo"/>
              </a:rPr>
              <a:t>CADENA LARGA Y PLEGADA</a:t>
            </a:r>
          </a:p>
        </p:txBody>
      </p:sp>
      <p:sp>
        <p:nvSpPr>
          <p:cNvPr id="26" name="Oval 25"/>
          <p:cNvSpPr/>
          <p:nvPr/>
        </p:nvSpPr>
        <p:spPr>
          <a:xfrm>
            <a:off x="3566160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94302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22445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50588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78731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06874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35016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63159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391302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19445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47588" y="507492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566160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794302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22445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50588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78731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06874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35016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163159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391302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619445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47588" y="5349240"/>
            <a:ext cx="155448" cy="155448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4892040"/>
            <a:ext cx="295625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Estructura tridimensional compleja y estable.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023201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02320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DIFERENCIAS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Cuatro palabras que se confunden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23643"/>
          </a:xfrm>
          <a:prstGeom prst="roundRect">
            <a:avLst>
              <a:gd name="adj" fmla="val 424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Aminoácido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21508"/>
            <a:ext cx="481568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La unidad estructural individual.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23643"/>
          </a:xfrm>
          <a:prstGeom prst="roundRect">
            <a:avLst>
              <a:gd name="adj" fmla="val 424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Péptido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21508"/>
            <a:ext cx="481568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Cadena corta de aminoácidos unidos por enlaces peptídicos.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19956"/>
            <a:ext cx="5327751" cy="1723643"/>
          </a:xfrm>
          <a:prstGeom prst="roundRect">
            <a:avLst>
              <a:gd name="adj" fmla="val 424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48556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Proteína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01184"/>
            <a:ext cx="481568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Cadena larga y plegada, con estructura tridimensional estable.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219956"/>
            <a:ext cx="5327751" cy="1723643"/>
          </a:xfrm>
          <a:prstGeom prst="roundRect">
            <a:avLst>
              <a:gd name="adj" fmla="val 424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48556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Hormona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01184"/>
            <a:ext cx="481568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Término funcional: molécula señalizadora que actúa a distancia. Muchas son péptidos (insulina, oxitocina); otras no (cortisol, testosterona).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938905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3890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ORIGEN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Endógenos y sintéticos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73F33"/>
                </a:solidFill>
                <a:latin typeface="Fraunces"/>
              </a:rPr>
              <a:t>Endógeno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017520"/>
            <a:ext cx="4724247" cy="0"/>
          </a:xfrm>
          <a:prstGeom prst="line">
            <a:avLst/>
          </a:prstGeom>
          <a:ln w="1270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Lo produce el organismo en forma natural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1F5142"/>
              </a:buClr>
              <a:buFont typeface="Arial"/>
              <a:buChar char="■"/>
            </a:pPr>
            <a:r>
              <a:rPr sz="1600" b="0" i="0">
                <a:solidFill>
                  <a:srgbClr val="15261F"/>
                </a:solidFill>
                <a:latin typeface="Archivo"/>
              </a:rPr>
              <a:t>Ejemplos: insulina, oxitocina, glutatión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240280"/>
            <a:ext cx="5272887" cy="3611880"/>
          </a:xfrm>
          <a:prstGeom prst="roundRect">
            <a:avLst>
              <a:gd name="adj" fmla="val 2025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4231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9EE"/>
                </a:solidFill>
                <a:latin typeface="Fraunces"/>
              </a:rPr>
              <a:t>Sintético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53047" y="3017520"/>
            <a:ext cx="4724248" cy="0"/>
          </a:xfrm>
          <a:prstGeom prst="line">
            <a:avLst/>
          </a:prstGeom>
          <a:ln w="1270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53047" y="3200400"/>
            <a:ext cx="4724247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Fabricado en laboratorio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Puede replicar una secuencia endógena exacta (insulina recombinante)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O ser un análogo diseñado para cambiar estabilidad, potencia o selectividad</a:t>
            </a:r>
          </a:p>
          <a:p>
            <a:pPr algn="l" marL="256032" indent="-256032">
              <a:lnSpc>
                <a:spcPct val="112000"/>
              </a:lnSpc>
              <a:spcAft>
                <a:spcPts val="800"/>
              </a:spcAft>
              <a:buClr>
                <a:srgbClr val="E4AA18"/>
              </a:buClr>
              <a:buFont typeface="Arial"/>
              <a:buChar char="■"/>
            </a:pPr>
            <a:r>
              <a:rPr sz="1600" b="0" i="0">
                <a:solidFill>
                  <a:srgbClr val="FFF9EE"/>
                </a:solidFill>
                <a:latin typeface="Archivo"/>
              </a:rPr>
              <a:t>No todos los sintéticos están aprobados para uso en humanos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136050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360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HISTORIA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Cien años de péptidos terapéuticos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291840"/>
            <a:ext cx="10911535" cy="0"/>
          </a:xfrm>
          <a:prstGeom prst="line">
            <a:avLst/>
          </a:prstGeom>
          <a:ln w="2540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300603" y="3172968"/>
            <a:ext cx="237744" cy="237744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55879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1922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880"/>
            <a:ext cx="14673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73F33"/>
                </a:solidFill>
                <a:latin typeface="Archivo"/>
              </a:rPr>
              <a:t>Insulina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4251960"/>
            <a:ext cx="141248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43554C"/>
                </a:solidFill>
                <a:latin typeface="Archivo"/>
              </a:rPr>
              <a:t>Primer péptido terapéutico en humanos.</a:t>
            </a:r>
          </a:p>
        </p:txBody>
      </p:sp>
      <p:sp>
        <p:nvSpPr>
          <p:cNvPr id="10" name="Oval 9"/>
          <p:cNvSpPr/>
          <p:nvPr/>
        </p:nvSpPr>
        <p:spPr>
          <a:xfrm>
            <a:off x="2859394" y="3172968"/>
            <a:ext cx="237744" cy="237744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8870" y="2423160"/>
            <a:ext cx="155879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1953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4590" y="3611880"/>
            <a:ext cx="14673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73F33"/>
                </a:solidFill>
                <a:latin typeface="Archivo"/>
              </a:rPr>
              <a:t>Oxitocina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2022" y="4251960"/>
            <a:ext cx="141248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43554C"/>
                </a:solidFill>
                <a:latin typeface="Archivo"/>
              </a:rPr>
              <a:t>Primer péptido hormonal sintetizado en laboratorio.</a:t>
            </a:r>
          </a:p>
        </p:txBody>
      </p:sp>
      <p:sp>
        <p:nvSpPr>
          <p:cNvPr id="14" name="Oval 13"/>
          <p:cNvSpPr/>
          <p:nvPr/>
        </p:nvSpPr>
        <p:spPr>
          <a:xfrm>
            <a:off x="4418184" y="3172968"/>
            <a:ext cx="237744" cy="237744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7661" y="2423160"/>
            <a:ext cx="155879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1982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381" y="3611880"/>
            <a:ext cx="14673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73F33"/>
                </a:solidFill>
                <a:latin typeface="Archivo"/>
              </a:rPr>
              <a:t>Insulina recombinante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0813" y="4251960"/>
            <a:ext cx="141248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43554C"/>
                </a:solidFill>
                <a:latin typeface="Archivo"/>
              </a:rPr>
              <a:t>Inicio de la era biotecnológica.</a:t>
            </a:r>
          </a:p>
        </p:txBody>
      </p:sp>
      <p:sp>
        <p:nvSpPr>
          <p:cNvPr id="18" name="Oval 17"/>
          <p:cNvSpPr/>
          <p:nvPr/>
        </p:nvSpPr>
        <p:spPr>
          <a:xfrm>
            <a:off x="5976975" y="3172968"/>
            <a:ext cx="237744" cy="237744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6452" y="2423160"/>
            <a:ext cx="155879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1997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2172" y="3611880"/>
            <a:ext cx="14673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73F33"/>
                </a:solidFill>
                <a:latin typeface="Archivo"/>
              </a:rPr>
              <a:t>Sermorelina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9604" y="4251960"/>
            <a:ext cx="141248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43554C"/>
                </a:solidFill>
                <a:latin typeface="Archivo"/>
              </a:rPr>
              <a:t>Primer secretagogo de GH sintético aprobado por la FDA.</a:t>
            </a:r>
          </a:p>
        </p:txBody>
      </p:sp>
      <p:sp>
        <p:nvSpPr>
          <p:cNvPr id="22" name="Oval 21"/>
          <p:cNvSpPr/>
          <p:nvPr/>
        </p:nvSpPr>
        <p:spPr>
          <a:xfrm>
            <a:off x="7535766" y="3172968"/>
            <a:ext cx="237744" cy="237744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5242" y="2423160"/>
            <a:ext cx="155879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2005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20962" y="3611880"/>
            <a:ext cx="14673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73F33"/>
                </a:solidFill>
                <a:latin typeface="Archivo"/>
              </a:rPr>
              <a:t>Exenatida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8394" y="4251960"/>
            <a:ext cx="141248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43554C"/>
                </a:solidFill>
                <a:latin typeface="Archivo"/>
              </a:rPr>
              <a:t>Primer agonista GLP-1.</a:t>
            </a:r>
          </a:p>
        </p:txBody>
      </p:sp>
      <p:sp>
        <p:nvSpPr>
          <p:cNvPr id="26" name="Oval 25"/>
          <p:cNvSpPr/>
          <p:nvPr/>
        </p:nvSpPr>
        <p:spPr>
          <a:xfrm>
            <a:off x="9094557" y="3172968"/>
            <a:ext cx="237744" cy="237744"/>
          </a:xfrm>
          <a:prstGeom prst="ellipse">
            <a:avLst/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4033" y="2423160"/>
            <a:ext cx="155879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9753" y="3611880"/>
            <a:ext cx="14673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73F33"/>
                </a:solidFill>
                <a:latin typeface="Archivo"/>
              </a:rPr>
              <a:t>Liraglutida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7185" y="4251960"/>
            <a:ext cx="141248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43554C"/>
                </a:solidFill>
                <a:latin typeface="Archivo"/>
              </a:rPr>
              <a:t>Las incretinas llegan al manejo del peso.</a:t>
            </a:r>
          </a:p>
        </p:txBody>
      </p:sp>
      <p:sp>
        <p:nvSpPr>
          <p:cNvPr id="30" name="Oval 29"/>
          <p:cNvSpPr/>
          <p:nvPr/>
        </p:nvSpPr>
        <p:spPr>
          <a:xfrm>
            <a:off x="10653347" y="3172968"/>
            <a:ext cx="237744" cy="237744"/>
          </a:xfrm>
          <a:prstGeom prst="ellipse">
            <a:avLst/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2824" y="2423160"/>
            <a:ext cx="155879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173F33"/>
                </a:solidFill>
                <a:latin typeface="Fraunces"/>
              </a:rPr>
              <a:t>2017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8544" y="3611880"/>
            <a:ext cx="14673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73F33"/>
                </a:solidFill>
                <a:latin typeface="Archivo"/>
              </a:rPr>
              <a:t>Mercado «de investigación»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5976" y="4251960"/>
            <a:ext cx="1412486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43554C"/>
                </a:solidFill>
                <a:latin typeface="Archivo"/>
              </a:rPr>
              <a:t>Auge de péptidos vendidos fuera de los canales regulados.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Cómo actúan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El lenguaje de los receptores.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234622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23462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Una llave que abre una señal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302687" cy="1920240"/>
          </a:xfrm>
          <a:prstGeom prst="roundRect">
            <a:avLst>
              <a:gd name="adj" fmla="val 3809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8454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El péptido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18454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Una molécula señal, como una llave.</a:t>
            </a:r>
          </a:p>
        </p:txBody>
      </p:sp>
      <p:sp>
        <p:nvSpPr>
          <p:cNvPr id="8" name="Freeform 7"/>
          <p:cNvSpPr/>
          <p:nvPr/>
        </p:nvSpPr>
        <p:spPr>
          <a:xfrm>
            <a:off x="3070783" y="2971800"/>
            <a:ext cx="310896" cy="548639"/>
          </a:xfrm>
          <a:custGeom>
            <a:avLst/>
            <a:gdLst/>
            <a:ahLst/>
            <a:cxnLst/>
            <a:rect l="l" t="t" r="r" b="b"/>
            <a:pathLst>
              <a:path w="310896" h="548639">
                <a:moveTo>
                  <a:pt x="0" y="0"/>
                </a:moveTo>
                <a:lnTo>
                  <a:pt x="310896" y="274320"/>
                </a:lnTo>
                <a:lnTo>
                  <a:pt x="0" y="548639"/>
                </a:lnTo>
                <a:close/>
              </a:path>
            </a:pathLst>
          </a:cu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09695" y="2286000"/>
            <a:ext cx="2302687" cy="1920240"/>
          </a:xfrm>
          <a:prstGeom prst="roundRect">
            <a:avLst>
              <a:gd name="adj" fmla="val 3809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8295" y="2468880"/>
            <a:ext cx="18454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El receptor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8295" y="3200400"/>
            <a:ext cx="18454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Una cerradura específica en la membrana.</a:t>
            </a:r>
          </a:p>
        </p:txBody>
      </p:sp>
      <p:sp>
        <p:nvSpPr>
          <p:cNvPr id="12" name="Freeform 11"/>
          <p:cNvSpPr/>
          <p:nvPr/>
        </p:nvSpPr>
        <p:spPr>
          <a:xfrm>
            <a:off x="5940399" y="2971800"/>
            <a:ext cx="310896" cy="548639"/>
          </a:xfrm>
          <a:custGeom>
            <a:avLst/>
            <a:gdLst/>
            <a:ahLst/>
            <a:cxnLst/>
            <a:rect l="l" t="t" r="r" b="b"/>
            <a:pathLst>
              <a:path w="310896" h="548639">
                <a:moveTo>
                  <a:pt x="0" y="0"/>
                </a:moveTo>
                <a:lnTo>
                  <a:pt x="310896" y="274320"/>
                </a:lnTo>
                <a:lnTo>
                  <a:pt x="0" y="548639"/>
                </a:lnTo>
                <a:close/>
              </a:path>
            </a:pathLst>
          </a:cu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9311" y="2286000"/>
            <a:ext cx="2302687" cy="1920240"/>
          </a:xfrm>
          <a:prstGeom prst="roundRect">
            <a:avLst>
              <a:gd name="adj" fmla="val 3809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7911" y="2468880"/>
            <a:ext cx="18454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Segundos mensajeros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7911" y="3200400"/>
            <a:ext cx="18454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Dentro de la célula, la señal se multiplica.</a:t>
            </a:r>
          </a:p>
        </p:txBody>
      </p:sp>
      <p:sp>
        <p:nvSpPr>
          <p:cNvPr id="16" name="Freeform 15"/>
          <p:cNvSpPr/>
          <p:nvPr/>
        </p:nvSpPr>
        <p:spPr>
          <a:xfrm>
            <a:off x="8810015" y="2971800"/>
            <a:ext cx="310896" cy="548639"/>
          </a:xfrm>
          <a:custGeom>
            <a:avLst/>
            <a:gdLst/>
            <a:ahLst/>
            <a:cxnLst/>
            <a:rect l="l" t="t" r="r" b="b"/>
            <a:pathLst>
              <a:path w="310896" h="548639">
                <a:moveTo>
                  <a:pt x="0" y="0"/>
                </a:moveTo>
                <a:lnTo>
                  <a:pt x="310896" y="274320"/>
                </a:lnTo>
                <a:lnTo>
                  <a:pt x="0" y="548639"/>
                </a:lnTo>
                <a:close/>
              </a:path>
            </a:pathLst>
          </a:cu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48927" y="2286000"/>
            <a:ext cx="2302687" cy="1920240"/>
          </a:xfrm>
          <a:prstGeom prst="roundRect">
            <a:avLst>
              <a:gd name="adj" fmla="val 3809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7527" y="2468880"/>
            <a:ext cx="18454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9EE"/>
                </a:solidFill>
                <a:latin typeface="Archivo"/>
              </a:rPr>
              <a:t>La respuesta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7527" y="3200400"/>
            <a:ext cx="184548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FFF9EE"/>
                </a:solidFill>
                <a:latin typeface="Archivo"/>
              </a:rPr>
              <a:t>La célula cambia lo que hace.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3454298" cy="1280160"/>
          </a:xfrm>
          <a:prstGeom prst="roundRect">
            <a:avLst>
              <a:gd name="adj" fmla="val 4285"/>
            </a:avLst>
          </a:prstGeom>
          <a:solidFill>
            <a:srgbClr val="FFF9EE"/>
          </a:solidFill>
          <a:ln w="9525">
            <a:solidFill>
              <a:srgbClr val="9BA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663440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73F33"/>
                </a:solidFill>
                <a:latin typeface="Archivo"/>
              </a:rPr>
              <a:t>Agonista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029200"/>
            <a:ext cx="308853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5261F"/>
                </a:solidFill>
                <a:latin typeface="Archivo"/>
              </a:rPr>
              <a:t>Activa el receptor e imita o potencia la señal natural.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8698" y="4572000"/>
            <a:ext cx="3454298" cy="1280160"/>
          </a:xfrm>
          <a:prstGeom prst="roundRect">
            <a:avLst>
              <a:gd name="adj" fmla="val 4285"/>
            </a:avLst>
          </a:prstGeom>
          <a:solidFill>
            <a:srgbClr val="FFF9EE"/>
          </a:solidFill>
          <a:ln w="9525">
            <a:solidFill>
              <a:srgbClr val="9BA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1578" y="4663440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73F33"/>
                </a:solidFill>
                <a:latin typeface="Archivo"/>
              </a:rPr>
              <a:t>Agonista parcial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1578" y="5029200"/>
            <a:ext cx="308853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5261F"/>
                </a:solidFill>
                <a:latin typeface="Archivo"/>
              </a:rPr>
              <a:t>Activa el receptor, pero con una respuesta menor.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7316" y="4572000"/>
            <a:ext cx="3454298" cy="1280160"/>
          </a:xfrm>
          <a:prstGeom prst="roundRect">
            <a:avLst>
              <a:gd name="adj" fmla="val 4285"/>
            </a:avLst>
          </a:prstGeom>
          <a:solidFill>
            <a:srgbClr val="FFF9EE"/>
          </a:solidFill>
          <a:ln w="9525">
            <a:solidFill>
              <a:srgbClr val="9BAF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0196" y="4663440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73F33"/>
                </a:solidFill>
                <a:latin typeface="Archivo"/>
              </a:rPr>
              <a:t>Antagonista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196" y="5029200"/>
            <a:ext cx="308853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5261F"/>
                </a:solidFill>
                <a:latin typeface="Archivo"/>
              </a:rPr>
              <a:t>Se une y bloquea el receptor.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417490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41749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POR QUÉ ESTÁN DE MODA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Las situaciones donde la gente los busca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23643"/>
          </a:xfrm>
          <a:prstGeom prst="roundRect">
            <a:avLst>
              <a:gd name="adj" fmla="val 424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Lesiones que vuelven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21508"/>
            <a:ext cx="481568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Lesiones repetitivas que reaparecen después de terapias y de periodos de reposo.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23643"/>
          </a:xfrm>
          <a:prstGeom prst="roundRect">
            <a:avLst>
              <a:gd name="adj" fmla="val 424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Recuperaciones lentas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21508"/>
            <a:ext cx="481568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Procesos que requieren muchas sesiones y terapias.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19956"/>
            <a:ext cx="5327751" cy="1723643"/>
          </a:xfrm>
          <a:prstGeom prst="roundRect">
            <a:avLst>
              <a:gd name="adj" fmla="val 424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48556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Estancamiento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01184"/>
            <a:ext cx="481568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Detención del crecimiento muscular sin razón aparente y riesgo de perder masa.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219956"/>
            <a:ext cx="5327751" cy="1723643"/>
          </a:xfrm>
          <a:prstGeom prst="roundRect">
            <a:avLst>
              <a:gd name="adj" fmla="val 4244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48556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Grasa rebelde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01184"/>
            <a:ext cx="481568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Sobrepeso refractario aunque la alimentación, el ejercicio y la salud mental estén controlados.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431767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43176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COMPARACIÓN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Péptidos frente a otras intervenciones moleculares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0911535" cy="502920"/>
          </a:xfrm>
          <a:prstGeom prst="roundRect">
            <a:avLst>
              <a:gd name="adj" fmla="val 9090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9EE"/>
                </a:solidFill>
                <a:latin typeface="Archivo"/>
              </a:rPr>
              <a:t>Intervención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240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9EE"/>
                </a:solidFill>
                <a:latin typeface="Archivo"/>
              </a:rPr>
              <a:t>Especificidad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402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9EE"/>
                </a:solidFill>
                <a:latin typeface="Archivo"/>
              </a:rPr>
              <a:t>Efectos sistémicos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39" y="224028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9EE"/>
                </a:solidFill>
                <a:latin typeface="Archivo"/>
              </a:rPr>
              <a:t>Reversibilidad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10911535" cy="566928"/>
          </a:xfrm>
          <a:prstGeom prst="roundRect">
            <a:avLst>
              <a:gd name="adj" fmla="val 6451"/>
            </a:avLst>
          </a:prstGeom>
          <a:solidFill>
            <a:srgbClr val="D5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83464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73F33"/>
                </a:solidFill>
                <a:latin typeface="Archivo"/>
              </a:rPr>
              <a:t>Péptidos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3464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Alta: receptor específico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40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Bajos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39" y="28346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Alta: se degradan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74720"/>
            <a:ext cx="10911535" cy="566928"/>
          </a:xfrm>
          <a:prstGeom prst="roundRect">
            <a:avLst>
              <a:gd name="adj" fmla="val 645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47472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73F33"/>
                </a:solidFill>
                <a:latin typeface="Archivo"/>
              </a:rPr>
              <a:t>Hormonas exógenas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7472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Baja: sistémicas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474720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Altos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347472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Baja: suprimen el eje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10911535" cy="566928"/>
          </a:xfrm>
          <a:prstGeom prst="roundRect">
            <a:avLst>
              <a:gd name="adj" fmla="val 645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11480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73F33"/>
                </a:solidFill>
                <a:latin typeface="Archivo"/>
              </a:rPr>
              <a:t>AINES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11480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14800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Moderados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411480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Media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54879"/>
            <a:ext cx="10911535" cy="566928"/>
          </a:xfrm>
          <a:prstGeom prst="roundRect">
            <a:avLst>
              <a:gd name="adj" fmla="val 6451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754879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73F33"/>
                </a:solidFill>
                <a:latin typeface="Archivo"/>
              </a:rPr>
              <a:t>Anabolizantes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754879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Baja: sistémicos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54879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Muy altos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39" y="4754879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Muy baja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5261F"/>
                </a:solidFill>
                <a:latin typeface="Archivo"/>
              </a:rPr>
              <a:t>Ojo: el perfil de seguridad depende de cada compuesto, de su evidencia y de su estatus regulatorio. «Péptido» no significa «inocuo».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Cómo se mide la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No todo «estudio» pesa lo mismo.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431767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43176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LA PIRÁMIDE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Lo que sugiere cada tipo de estudio</a:t>
            </a:r>
          </a:p>
        </p:txBody>
      </p:sp>
      <p:sp>
        <p:nvSpPr>
          <p:cNvPr id="5" name="Freeform 4"/>
          <p:cNvSpPr/>
          <p:nvPr/>
        </p:nvSpPr>
        <p:spPr>
          <a:xfrm>
            <a:off x="2200123" y="2286000"/>
            <a:ext cx="2732073" cy="1115568"/>
          </a:xfrm>
          <a:custGeom>
            <a:avLst/>
            <a:gdLst/>
            <a:ahLst/>
            <a:cxnLst/>
            <a:rect l="l" t="t" r="r" b="b"/>
            <a:pathLst>
              <a:path w="2732073" h="1115568">
                <a:moveTo>
                  <a:pt x="634516" y="0"/>
                </a:moveTo>
                <a:lnTo>
                  <a:pt x="2097557" y="0"/>
                </a:lnTo>
                <a:lnTo>
                  <a:pt x="2732073" y="1115568"/>
                </a:lnTo>
                <a:lnTo>
                  <a:pt x="0" y="1115568"/>
                </a:lnTo>
                <a:close/>
              </a:path>
            </a:pathLst>
          </a:cu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63239" y="2377440"/>
            <a:ext cx="100584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173F33"/>
                </a:solidFill>
                <a:latin typeface="Archivo"/>
              </a:rPr>
              <a:t>Ensayos en humanos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395728"/>
            <a:ext cx="496793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Estiman si el efecto es real, relevante y seguro en personas.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52098" y="2843784"/>
            <a:ext cx="1694422" cy="0"/>
          </a:xfrm>
          <a:prstGeom prst="line">
            <a:avLst/>
          </a:prstGeom>
          <a:ln w="12700">
            <a:solidFill>
              <a:srgbClr val="9BAF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1534401" y="3456432"/>
            <a:ext cx="4063517" cy="1115568"/>
          </a:xfrm>
          <a:custGeom>
            <a:avLst/>
            <a:gdLst/>
            <a:ahLst/>
            <a:cxnLst/>
            <a:rect l="l" t="t" r="r" b="b"/>
            <a:pathLst>
              <a:path w="4063517" h="1115568">
                <a:moveTo>
                  <a:pt x="634517" y="0"/>
                </a:moveTo>
                <a:lnTo>
                  <a:pt x="3429000" y="0"/>
                </a:lnTo>
                <a:lnTo>
                  <a:pt x="4063517" y="1115568"/>
                </a:lnTo>
                <a:lnTo>
                  <a:pt x="0" y="1115568"/>
                </a:lnTo>
                <a:close/>
              </a:path>
            </a:pathLst>
          </a:custGeom>
          <a:solidFill>
            <a:srgbClr val="607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7518" y="3547872"/>
            <a:ext cx="2337283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9EE"/>
                </a:solidFill>
                <a:latin typeface="Archivo"/>
              </a:rPr>
              <a:t>Modelos animales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566160"/>
            <a:ext cx="496793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Sugieren que el mecanismo puede tener efecto en un organismo completo.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17820" y="4014216"/>
            <a:ext cx="1028700" cy="0"/>
          </a:xfrm>
          <a:prstGeom prst="line">
            <a:avLst/>
          </a:prstGeom>
          <a:ln w="12700">
            <a:solidFill>
              <a:srgbClr val="9BAF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868679" y="4626864"/>
            <a:ext cx="5394961" cy="1115568"/>
          </a:xfrm>
          <a:custGeom>
            <a:avLst/>
            <a:gdLst/>
            <a:ahLst/>
            <a:cxnLst/>
            <a:rect l="l" t="t" r="r" b="b"/>
            <a:pathLst>
              <a:path w="5394961" h="1115568">
                <a:moveTo>
                  <a:pt x="634517" y="0"/>
                </a:moveTo>
                <a:lnTo>
                  <a:pt x="4760444" y="0"/>
                </a:lnTo>
                <a:lnTo>
                  <a:pt x="5394961" y="1115568"/>
                </a:lnTo>
                <a:lnTo>
                  <a:pt x="0" y="1115568"/>
                </a:lnTo>
                <a:close/>
              </a:path>
            </a:pathLst>
          </a:custGeom>
          <a:solidFill>
            <a:srgbClr val="9BA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1796" y="4718304"/>
            <a:ext cx="3668727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73F33"/>
                </a:solidFill>
                <a:latin typeface="Archivo"/>
              </a:rPr>
              <a:t>Cultivo celular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36592"/>
            <a:ext cx="496793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Sugiere un mecanismo posible.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3541" y="5184648"/>
            <a:ext cx="362979" cy="0"/>
          </a:xfrm>
          <a:prstGeom prst="line">
            <a:avLst/>
          </a:prstGeom>
          <a:ln w="12700">
            <a:solidFill>
              <a:srgbClr val="9BAFA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8338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320606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320606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FASES DE LOS ENSAYOS CLÍNICOS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Cinco etapas antes y después de la aprobación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977481" cy="3383280"/>
          </a:xfrm>
          <a:prstGeom prst="roundRect">
            <a:avLst>
              <a:gd name="adj" fmla="val 3699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560320"/>
            <a:ext cx="146541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Fase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42919"/>
            <a:ext cx="1465417" cy="247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5261F"/>
                </a:solidFill>
                <a:latin typeface="Archivo"/>
              </a:rPr>
              <a:t>Decenas de personas, microdosis. Farmacocinética exploratoria.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3593" y="2331720"/>
            <a:ext cx="1977481" cy="3383280"/>
          </a:xfrm>
          <a:prstGeom prst="roundRect">
            <a:avLst>
              <a:gd name="adj" fmla="val 3699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9625" y="2560320"/>
            <a:ext cx="146541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Fase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9625" y="3042919"/>
            <a:ext cx="1465417" cy="247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5261F"/>
                </a:solidFill>
                <a:latin typeface="Archivo"/>
              </a:rPr>
              <a:t>Decenas de voluntarios. Tolerabilidad y seguridad a corto y mediano plazo.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7106" y="2331720"/>
            <a:ext cx="1977481" cy="3383280"/>
          </a:xfrm>
          <a:prstGeom prst="roundRect">
            <a:avLst>
              <a:gd name="adj" fmla="val 3699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3138" y="2560320"/>
            <a:ext cx="146541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3138" y="3042919"/>
            <a:ext cx="1465417" cy="247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5261F"/>
                </a:solidFill>
                <a:latin typeface="Archivo"/>
              </a:rPr>
              <a:t>Cientos de participantes. Eficacia preliminar y seguridad.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0620" y="2331720"/>
            <a:ext cx="1977481" cy="3383280"/>
          </a:xfrm>
          <a:prstGeom prst="roundRect">
            <a:avLst>
              <a:gd name="adj" fmla="val 3699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96652" y="2560320"/>
            <a:ext cx="146541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Fase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6652" y="3042919"/>
            <a:ext cx="1465417" cy="247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5261F"/>
                </a:solidFill>
                <a:latin typeface="Archivo"/>
              </a:rPr>
              <a:t>Cientos a miles. Confirma eficacia y seguridad frente a un comparador; base habitual de la aprobación.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74133" y="2331720"/>
            <a:ext cx="1977481" cy="3383280"/>
          </a:xfrm>
          <a:prstGeom prst="roundRect">
            <a:avLst>
              <a:gd name="adj" fmla="val 3699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30165" y="2560320"/>
            <a:ext cx="1465417" cy="409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3F33"/>
                </a:solidFill>
                <a:latin typeface="Archivo"/>
              </a:rPr>
              <a:t>Fase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30165" y="3042919"/>
            <a:ext cx="1465417" cy="2470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5261F"/>
                </a:solidFill>
                <a:latin typeface="Archivo"/>
              </a:rPr>
              <a:t>Población general tras la aprobación. Farmacovigilancia y seguridad a largo plazo.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220346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22034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ESCALA DE 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Cómo clasifica el Dr. Marco lo que revisa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A · Ensayos sólidos en humanos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Semaglutida, liraglutida, tirzepatida y mecasermina.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08375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063239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90671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B – C · Evidencia parcial o limitada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5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Sermorelina y GHK-Cu.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877056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9319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5935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D · Sobre todo modelos animales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77639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BPC-157, TB-500, AOD-9604 y hexarelina.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745736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8006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28032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5261F"/>
                </a:solidFill>
                <a:latin typeface="Archivo"/>
              </a:rPr>
              <a:t>E · Datos muy preliminares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46320"/>
            <a:ext cx="6522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43554C"/>
                </a:solidFill>
                <a:latin typeface="Archivo"/>
              </a:rPr>
              <a:t>KPV.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329184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9000" b="1" i="0">
                <a:solidFill>
                  <a:srgbClr val="E4AA18"/>
                </a:solidFill>
                <a:latin typeface="Fraunces"/>
              </a:rPr>
              <a:t>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60520" y="1737360"/>
            <a:ext cx="0" cy="3383280"/>
          </a:xfrm>
          <a:prstGeom prst="line">
            <a:avLst/>
          </a:prstGeom>
          <a:ln w="190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0" y="173736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9EE"/>
                </a:solidFill>
                <a:latin typeface="Fraunces"/>
              </a:rPr>
              <a:t>Qué dice la regulación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06908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BAFA4"/>
                </a:solidFill>
                <a:latin typeface="Archivo"/>
              </a:rPr>
              <a:t>Y por qué depende de cada país.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92462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92462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TRES SITUACIONES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Lo que el marketing suele mezclar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611880"/>
          </a:xfrm>
          <a:prstGeom prst="roundRect">
            <a:avLst>
              <a:gd name="adj" fmla="val 2110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35808"/>
            <a:ext cx="2954426" cy="67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Uso aprobado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788156"/>
            <a:ext cx="2954426" cy="1862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El compuesto y la indicación específica superaron el proceso regulatorio completo. Ej.: tirzepatida para diabetes tipo 2 y manejo crónico del peso.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2240280"/>
            <a:ext cx="3466490" cy="3611880"/>
          </a:xfrm>
          <a:prstGeom prst="roundRect">
            <a:avLst>
              <a:gd name="adj" fmla="val 2110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8634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8634" y="3035808"/>
            <a:ext cx="2954426" cy="67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Fuera de indicación (off-label)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8634" y="3788156"/>
            <a:ext cx="2954426" cy="1862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Un medicamento aprobado para algo se prescribe, bajo criterio médico, para otra indicación sin aprobación específica.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2240280"/>
            <a:ext cx="3466490" cy="3611880"/>
          </a:xfrm>
          <a:prstGeom prst="roundRect">
            <a:avLst>
              <a:gd name="adj" fmla="val 2110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1156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3035808"/>
            <a:ext cx="2954426" cy="67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Experimental o de investigación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788156"/>
            <a:ext cx="2954426" cy="1862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Sin aprobación para uso en humanos. Su venta legítima se limita, en principio, a investigación de laboratorio.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Estatus regulatorio: varía por país; verifica el de tu país. Venderlo como «suplemento» o «para investigación» no cambia su estatus real ni garantiza su calidad.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431767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43176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EVIDENCIA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Los que sí tienen aprobación: los análogos de GLP-1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4754880" cy="3383280"/>
          </a:xfrm>
          <a:prstGeom prst="roundRect">
            <a:avLst>
              <a:gd name="adj" fmla="val 2162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F5142"/>
                </a:solidFill>
                <a:latin typeface="Fraunces"/>
              </a:rPr>
              <a:t>Evidencia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5261F"/>
                </a:solidFill>
                <a:latin typeface="Archivo"/>
              </a:rPr>
              <a:t>semaglutida, liraglutida y tirzepatida: ensayos sólidos en humanos y aprobación para indicaciones específicas.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423160"/>
            <a:ext cx="560801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Diabetes tipo 2 y manejo crónico del peso con comorbilidad.</a:t>
            </a:r>
          </a:p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Menos eventos cardiovasculares en adultos con enfermedad establecida y obesidad.</a:t>
            </a:r>
          </a:p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En investigación: hígado graso metabólico, consumo de sustancias y Alzheimer temprano.</a:t>
            </a:r>
          </a:p>
          <a:p>
            <a:pPr algn="l" marL="256032" indent="-256032">
              <a:lnSpc>
                <a:spcPct val="115000"/>
              </a:lnSpc>
              <a:spcAft>
                <a:spcPts val="1100"/>
              </a:spcAft>
              <a:buClr>
                <a:srgbClr val="1F5142"/>
              </a:buClr>
              <a:buFont typeface="Arial"/>
              <a:buChar char="■"/>
            </a:pPr>
            <a:r>
              <a:rPr sz="1800" b="0" i="0">
                <a:solidFill>
                  <a:srgbClr val="15261F"/>
                </a:solidFill>
                <a:latin typeface="Archivo"/>
              </a:rPr>
              <a:t>No son un milagro: tras suspender la semaglutida, un estudio vio recuperar cerca de dos tercios del peso en un año.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5332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E70"/>
                </a:solidFill>
                <a:latin typeface="Archivo"/>
              </a:rPr>
              <a:t>Aprobaciones citadas por la FDA. Estatus regulatorio: varía por país; verifica el de tu país.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727484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7274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BANDERAS ROJAS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Cinco señales de una promesa engañosa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Ratones =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Extrapolar un resultado en ratones a una conclusión sobre humanos.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907792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962656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90088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«Estudios» sin referencia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08376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Citar estudios que no se pueden verificar o enlazar a foros y páginas comerciales.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675888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73075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5818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Testimonios como prueba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76472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Usar la experiencia de una persona como si fuera evidencia clínica.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443984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498848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Sin datos = sin riesgo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44568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Presentar la ausencia de estudios de seguridad a largo plazo como si fuera seguridad demostrada.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21208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26694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94376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Resultados garantizados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12664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Prometer pérdida de grasa, músculo o rejuvenecimiento sin ensayos de fase 3 para esa indicación.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924629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92462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ANTES DE DECIDIR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Qué revisar en un producto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El certificado de análisis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21508"/>
            <a:ext cx="4815687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Un COA no garantiza pureza, ausencia de contaminación ni que sirva para uso en humanos.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2240280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9895" y="2468880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Contraindicaciones e interacciones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9895" y="2921508"/>
            <a:ext cx="4815687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Todo péptido, aprobado o no, debe especificarlas.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42816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71416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Poblaciones especiales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24044"/>
            <a:ext cx="4815687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Debe decir qué pasa en gestantes, lactantes, personas mayores o con enfermedades de base. Si no lo dice, no significa que se pueda.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4242816"/>
            <a:ext cx="5327751" cy="1746503"/>
          </a:xfrm>
          <a:prstGeom prst="roundRect">
            <a:avLst>
              <a:gd name="adj" fmla="val 4188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4471416"/>
            <a:ext cx="4815687" cy="3794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73F33"/>
                </a:solidFill>
                <a:latin typeface="Archivo"/>
              </a:rPr>
              <a:t>Aval de una agencia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4924044"/>
            <a:ext cx="4815687" cy="864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5261F"/>
                </a:solidFill>
                <a:latin typeface="Archivo"/>
              </a:rPr>
              <a:t>Busca la aprobación de una agencia nacional (FDA, EMA, INVIMA u otra) y verifica la del país donde lo vas a usar.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417490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41749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LISTA DE VERIFICACIÓN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Cinco preguntas antes de creerle a una promesa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221991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Evidencia y estatus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240279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¿Cuál es su nivel de evidencia y su estatus regulatorio para esa indicación concreta?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907792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962656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90088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Alternativas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08376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¿Existe una alternativa aprobada con evidencia más sólida para el mismo objetivo?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3675888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73075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58184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Riesgo personal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76472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¿Hay una condición, medicación o etapa de vida (embarazo, lactancia, edad) que cambie el riesgo?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443984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498848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Historia clínica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544568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¿Se revisó la historia clínica completa, con laboratorios recientes?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21208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26694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400" b="1" i="0">
                <a:solidFill>
                  <a:srgbClr val="1F5142"/>
                </a:solidFill>
                <a:latin typeface="Fraunce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294376"/>
            <a:ext cx="3383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5261F"/>
                </a:solidFill>
                <a:latin typeface="Archivo"/>
              </a:rPr>
              <a:t>Transparencia de la fuente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312664"/>
            <a:ext cx="652241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43554C"/>
                </a:solidFill>
                <a:latin typeface="Archivo"/>
              </a:rPr>
              <a:t>¿La fuente es clara sobre el estatus legal del producto o lo presenta de forma ambigua?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826056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826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USO 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5261F"/>
                </a:solidFill>
                <a:latin typeface="Fraunces"/>
              </a:rPr>
              <a:t>Tres principios para llevarte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611880"/>
          </a:xfrm>
          <a:prstGeom prst="roundRect">
            <a:avLst>
              <a:gd name="adj" fmla="val 2110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35808"/>
            <a:ext cx="2954426" cy="67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Supervisión profesional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788156"/>
            <a:ext cx="2954426" cy="1862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Las combinaciones y el seguimiento siempre con un médico tratante. Evita la automedicación.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2240280"/>
            <a:ext cx="3466490" cy="3611880"/>
          </a:xfrm>
          <a:prstGeom prst="roundRect">
            <a:avLst>
              <a:gd name="adj" fmla="val 2110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8634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8634" y="3035808"/>
            <a:ext cx="2954426" cy="67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Valoración previa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8634" y="3788156"/>
            <a:ext cx="2954426" cy="1862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Historia clínica, edad, objetivos y laboratorios acordes al plan. Lo que sirve para una persona no sirve para otra.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2240280"/>
            <a:ext cx="3466490" cy="3611880"/>
          </a:xfrm>
          <a:prstGeom prst="roundRect">
            <a:avLst>
              <a:gd name="adj" fmla="val 2110"/>
            </a:avLst>
          </a:prstGeom>
          <a:solidFill>
            <a:srgbClr val="E4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1156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F5142"/>
                </a:solidFill>
                <a:latin typeface="Fraunce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3035808"/>
            <a:ext cx="2954426" cy="6791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73F33"/>
                </a:solidFill>
                <a:latin typeface="Archivo"/>
              </a:rPr>
              <a:t>Suspende y consulta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788156"/>
            <a:ext cx="2954426" cy="1862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5261F"/>
                </a:solidFill>
                <a:latin typeface="Archivo"/>
              </a:rPr>
              <a:t>Ante cualquier efecto inesperado. Muchos péptidos están en investigación y se conoce poco de sus efectos en humanos.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9BAF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67557"/>
            <a:ext cx="329184" cy="2596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972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07E70"/>
                </a:solidFill>
                <a:latin typeface="Archivo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1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2318918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231891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ESCRÍBELO EN EL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9EE"/>
                </a:solidFill>
                <a:latin typeface="Fraunces"/>
              </a:rPr>
              <a:t>¿Qué promesa de salud viste que ahora </a:t>
            </a:r>
            <a:r>
              <a:rPr sz="4000" b="1" i="0">
                <a:solidFill>
                  <a:srgbClr val="E4AA18"/>
                </a:solidFill>
                <a:latin typeface="Fraunces"/>
              </a:rPr>
              <a:t>cuestionas</a:t>
            </a:r>
            <a:r>
              <a:rPr sz="4000" b="1" i="0">
                <a:solidFill>
                  <a:srgbClr val="FFF9EE"/>
                </a:solidFill>
                <a:latin typeface="Fraunces"/>
              </a:rPr>
              <a:t>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343400"/>
            <a:ext cx="3296412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32964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9EE"/>
                </a:solidFill>
                <a:latin typeface="Archivo"/>
              </a:rPr>
              <a:t>Pérdida de grasa rápida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5092" y="4343400"/>
            <a:ext cx="2432304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5092" y="4343400"/>
            <a:ext cx="243230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9EE"/>
                </a:solidFill>
                <a:latin typeface="Archivo"/>
              </a:rPr>
              <a:t>Rejuvenecimiento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25996" y="4343400"/>
            <a:ext cx="2679192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5996" y="4343400"/>
            <a:ext cx="267919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9EE"/>
                </a:solidFill>
                <a:latin typeface="Archivo"/>
              </a:rPr>
              <a:t>Recuperar lesiones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3788" y="4343400"/>
            <a:ext cx="950976" cy="640080"/>
          </a:xfrm>
          <a:prstGeom prst="roundRect">
            <a:avLst>
              <a:gd name="adj" fmla="val 11428"/>
            </a:avLst>
          </a:prstGeom>
          <a:solidFill>
            <a:srgbClr val="173F33"/>
          </a:solidFill>
          <a:ln w="9525">
            <a:solidFill>
              <a:srgbClr val="607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3788" y="4343400"/>
            <a:ext cx="950976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FFF9EE"/>
                </a:solidFill>
                <a:latin typeface="Archivo"/>
              </a:rPr>
              <a:t>Otra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9BAFA4"/>
                </a:solidFill>
                <a:latin typeface="Archivo"/>
              </a:rPr>
              <a:t>El Dr. Marco responde las que alcance.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1628912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62891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PARA LLEVARTE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9EE"/>
                </a:solidFill>
                <a:latin typeface="Fraunces"/>
              </a:rPr>
              <a:t>Tres ideas de estas tres noches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3466490" cy="3611880"/>
          </a:xfrm>
          <a:prstGeom prst="roundRect">
            <a:avLst>
              <a:gd name="adj" fmla="val 2110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E4AA18"/>
                </a:solidFill>
                <a:latin typeface="Fraunce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35808"/>
            <a:ext cx="2954426" cy="709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Lo rápido se devuelve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818128"/>
            <a:ext cx="2954426" cy="1832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9EE"/>
                </a:solidFill>
                <a:latin typeface="Archivo"/>
              </a:rPr>
              <a:t>Las dietas estrictas y las promesas milagrosas comparten el rebote.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2240280"/>
            <a:ext cx="3466490" cy="3611880"/>
          </a:xfrm>
          <a:prstGeom prst="roundRect">
            <a:avLst>
              <a:gd name="adj" fmla="val 2110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8634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E4AA18"/>
                </a:solidFill>
                <a:latin typeface="Fraunce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8634" y="3035808"/>
            <a:ext cx="2954426" cy="709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Muchas causas, no 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8634" y="3818128"/>
            <a:ext cx="2954426" cy="1832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9EE"/>
                </a:solidFill>
                <a:latin typeface="Archivo"/>
              </a:rPr>
              <a:t>Hormonas, entorno, intestino y tipo de grasa suman.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2240280"/>
            <a:ext cx="3466490" cy="3611880"/>
          </a:xfrm>
          <a:prstGeom prst="roundRect">
            <a:avLst>
              <a:gd name="adj" fmla="val 2110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1156" y="24231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E4AA18"/>
                </a:solidFill>
                <a:latin typeface="Fraunce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3035808"/>
            <a:ext cx="2954426" cy="709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9EE"/>
                </a:solidFill>
                <a:latin typeface="Archivo"/>
              </a:rPr>
              <a:t>Pide la evidencia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818128"/>
            <a:ext cx="2954426" cy="1832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9EE"/>
                </a:solidFill>
                <a:latin typeface="Archivo"/>
              </a:rPr>
              <a:t>Nivel de estudio, estatus regulatorio y fuente: tres preguntas, siempre.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FFF9EE"/>
                </a:solidFill>
                <a:latin typeface="Fraunces"/>
              </a:rPr>
              <a:t>Gracias por estas tres noches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6766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E4AA18"/>
              </a:buClr>
              <a:buFont typeface="Arial"/>
              <a:buChar char="■"/>
            </a:pPr>
            <a:r>
              <a:rPr sz="1800" b="0" i="0">
                <a:solidFill>
                  <a:srgbClr val="FFF9EE"/>
                </a:solidFill>
                <a:latin typeface="Archivo"/>
              </a:rPr>
              <a:t>Si quieres profundizar, conoce la Diplomatura en Medicina Integrativa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E4AA18"/>
              </a:buClr>
              <a:buFont typeface="Arial"/>
              <a:buChar char="■"/>
            </a:pPr>
            <a:r>
              <a:rPr sz="1800" b="0" i="0">
                <a:solidFill>
                  <a:srgbClr val="FFF9EE"/>
                </a:solidFill>
                <a:latin typeface="Archivo"/>
              </a:rPr>
              <a:t>Escríbenos por WhatsApp para resolver tus dudas</a:t>
            </a:r>
          </a:p>
          <a:p>
            <a:pPr algn="l" marL="256032" indent="-256032">
              <a:lnSpc>
                <a:spcPct val="115000"/>
              </a:lnSpc>
              <a:spcAft>
                <a:spcPts val="1000"/>
              </a:spcAft>
              <a:buClr>
                <a:srgbClr val="E4AA18"/>
              </a:buClr>
              <a:buFont typeface="Arial"/>
              <a:buChar char="■"/>
            </a:pPr>
            <a:r>
              <a:rPr sz="1800" b="0" i="0">
                <a:solidFill>
                  <a:srgbClr val="FFF9EE"/>
                </a:solidFill>
                <a:latin typeface="Archivo"/>
              </a:rPr>
              <a:t>Las tres masterclasses quedan disponibles en el canal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0" y="685800"/>
            <a:ext cx="3685032" cy="3566160"/>
          </a:xfrm>
          <a:prstGeom prst="roundRect">
            <a:avLst>
              <a:gd name="adj" fmla="val 2051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1727484" cy="310896"/>
          </a:xfrm>
          <a:prstGeom prst="roundRect">
            <a:avLst>
              <a:gd name="adj" fmla="val 11764"/>
            </a:avLst>
          </a:prstGeom>
          <a:solidFill>
            <a:srgbClr val="E4A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914400"/>
            <a:ext cx="17274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80">
                <a:solidFill>
                  <a:srgbClr val="173F33"/>
                </a:solidFill>
                <a:latin typeface="Archivo"/>
              </a:rPr>
              <a:t>REGALO PARA 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3716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>
                <a:solidFill>
                  <a:srgbClr val="FFF9EE"/>
                </a:solidFill>
                <a:latin typeface="Fraunces"/>
              </a:rPr>
              <a:t>Plan alimentario antiinflamatorio: dos guías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880360"/>
            <a:ext cx="32004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BAFA4"/>
                </a:solidFill>
                <a:latin typeface="Archivo"/>
              </a:rPr>
              <a:t>Descárgalas gratis: te pedimos tu nombre, correo y país. El enlace queda en el chat y en la descripción.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17720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1F5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9082735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9BAFA4"/>
                </a:solidFill>
                <a:latin typeface="Archivo"/>
              </a:rPr>
              <a:t>Las masterclasses son informativas y educativas. No constituyen diagnóstico, tratamiento ni prescripción personalizada, y no reemplazan la consulta médica. El Dr. Marco Sosa es Director Científico de Lumineight y percibe una participación sobre sus ventas; se declara para que lo tengas en cuenta al valorar lo que escuches.</a:t>
            </a:r>
          </a:p>
        </p:txBody>
      </p:sp>
      <p:sp>
        <p:nvSpPr>
          <p:cNvPr id="11" name="Oval 10"/>
          <p:cNvSpPr/>
          <p:nvPr/>
        </p:nvSpPr>
        <p:spPr>
          <a:xfrm>
            <a:off x="10500055" y="4773168"/>
            <a:ext cx="1051560" cy="1051560"/>
          </a:xfrm>
          <a:prstGeom prst="ellipse">
            <a:avLst/>
          </a:prstGeom>
          <a:solidFill>
            <a:srgbClr val="FFF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llo-red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8932" y="4809744"/>
            <a:ext cx="733806" cy="978408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640080" y="6400800"/>
            <a:ext cx="10911535" cy="0"/>
          </a:xfrm>
          <a:prstGeom prst="line">
            <a:avLst/>
          </a:prstGeom>
          <a:ln w="6350">
            <a:solidFill>
              <a:srgbClr val="607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473952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Dr. Marco Sosa · Masterclass 3 de 3 · ¿Milagro de internet o ciencia médica real?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BAFA4"/>
                </a:solidFill>
                <a:latin typeface="Archivo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