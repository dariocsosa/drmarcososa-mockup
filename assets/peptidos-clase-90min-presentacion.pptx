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Es una clase informativa para profesionales y público interesado. No es una consulta ni una prescripción.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Prioriza siempre la supervisión profesional. Verifica fuentes, pureza y procedencia antes de cualquier decisión (diap. 3 de Marco).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de los péptidos está en el campo de la investigación clínica. La responsabilidad no empieza en el momento de administrar (diap.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Tiempos: bases 35 minutos, metabolismo 35, reparación 10, preguntas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1: generalidades y bases científicas.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del módulo 1 (diap. 6 y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imagen de Marco: las R son las cadenas laterales; el enlace peptídico une cada aminoácido con el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Hormona: mensajero químico; algunas hormonas son péptidos (insulina), otras no (cortisol).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una convención regulatoria de EE. UU., no una frontera biológica.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Imagen de Marco (diap. 12). Así se forman las proteínas y los péptidos largos; los péptidos cortos también pueden sintetizarse en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Línea de tiempo en el tablero. Hoy la clase de las incretinas incluye semaglutida y tirzepatida.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análogos se modifican para durar más, ser más selectivos o resistir la degradación.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Imagen de Marco (diap. 21). La especificidad por el receptor determina la intensidad y el tipo de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Existen también agonistas parciales (activan menos) e inversos (reducen la actividad basal).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actúa en la membrana. Mitocondria y núcleo son campos de investigación, sin péptidos aprobados para esos usos.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Respuesta: no. Un péptido puede ser idéntico a uno del cuerpo y aun así tener riesgos por dosis, pureza, vía y condición del paciente. Las fichas de varios tienen advertencias.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final del módulo 1: evidencia, ensayos y estatus regulatorio.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Trasladar un resultado de ratones a humanos es uno de los errores más comunes y peligrosos al leer sobre péptidos.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fase 3 es la base habitual de la aprobación regulatoria. La fase 0 explora farmacocinética con microdosis.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 uso aprobado: tirzepatida para diabetes tipo 2 y manejo crónico del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Matiz sobre la diapositiva 31: no es cierto que los péptidos no se puedan patentar. Sí es cierto que muchos compuestos sin patente fuerte reciben pocos ensayos grandes.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señales para enseñar a identificar el marketing engañoso.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38: el COA no significa ausencia de contaminación. Todo péptido, aprobado o no, debe especificar contraindicaciones e interacciones.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preguntas que sirven para cualquier péptido.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el último grupo y algunos del primero tienen medicamentos con registro. Las demás categorías son en su mayoría investigación.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2. Aquí están los péptidos con más evidencia y varios con registro.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incretinas son hormonas peptídicas que libera el intestino al comer. También enlentecen el vaciado del estómago.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Hay datos parciales (liraglutida y leptina libre en el mantenimiento del peso), pero decir que «restauran» la sensibilidad a la leptina sigue siendo una hipótesis.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Mejor control de la glucosa y menos apetito: la base de semaglutida, liraglutida y tirzepatida.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Nombres comerciales: semaglutida (Ozempic, Wegovy, Rybelsus), liraglutida (Victoza, Saxenda), tirzepatida (Mounjaro, Zepbound). Verificar siempre el registro en cada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promedios de ensayos, no lo que se espera de una persona. Al suspender, se recupera parte del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las dosis de la ficha oficial. Si no se tolera, se espera más tiempo en la dosis anterior. Liraglutida: a las 16 semanas evaluar si bajó al menos 4 % del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tres llevan advertencia en recuadro por tumores de células C en roedores. En humanos no se sabe.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Entregar esta lista por escrito al paciente. Si hay sospecha de pancreatitis: suspender y no reiniciar si se confirma.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Agonista triple GIP, GLP-1 y glucagón; no está aprobada en ningún país. Lilly anunció que la presentará a la FDA en el primer trimestre de 2027. Presentar siempre las dos lecturas con su método. La «dosis de mantenimiento de 4 mg» de la diapositiva 74 no tiene respaldo publicado.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77 de Marco. El consenso europeo de 2026 recomienda cuidar proteína, fuerza y salud mental. No hay respaldo para sustituir esto con péptidos de hormona de crecimiento.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Dosis vigentes de tesamorelina en la ficha: 1,4 mg diarios (Egrifta SV) y 1,28 mg diarios (Egrifta WR); los 2 mg de la diapositiva 79 son la formulación original. Los secretagogos pueden dar hambre, lo contrario de lo buscado.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dejan fuera «purgar», «desintoxicar con sueroterapia», homeopatía y GHK-Cu: no tienen respaldo para esta indicación.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3. Casi todo lo de este bloque está sin aprobación regulatoria: no hay dosis ni protocolos en esta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94: el módulo reúne 8 péptidos de reparación; es uno de los campos con más péptidos sin aprobación.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exceso de inflamación es problemático; por eso se estudian péptidos que modulan la respuesta, no que la eliminen.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se dan dosis ni protocolos. Los datos humanos son muy limitados y hay preocupación por la pureza en el mercado de investigación.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razón por la que no se recomienda su uso fuera de estudios aprobados.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Evaluación previa obligatoria antes de cualquier tratamiento con péptidos.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Contraindicaciones absolutas generales que propone Marco.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Varias son urgencias: manejo inmediato y derivación.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calma. Después, preguntas del público.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Invitar a la siguiente actividad y leer la declaración sin prisa.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r-marco-sosa-1000.jpg"/>
          <p:cNvPicPr>
            <a:picLocks noChangeAspect="1"/>
          </p:cNvPicPr>
          <p:nvPr/>
        </p:nvPicPr>
        <p:blipFill>
          <a:blip r:embed="rId2"/>
          <a:srcRect l="6808" r="6808"/>
          <a:stretch>
            <a:fillRect/>
          </a:stretch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73152" cy="68580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281178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28117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CLASE ONLINE · 90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BAFA4"/>
                </a:solidFill>
                <a:latin typeface="Archivo"/>
              </a:rPr>
              <a:t>Dr. Marco Sosa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92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9EE"/>
                </a:solidFill>
                <a:latin typeface="Fraunces"/>
              </a:rPr>
              <a:t>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Bases científicas, metabolismo y reparación, con la evidencia y la norma al lado.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486400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llo-red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5522976"/>
            <a:ext cx="733806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39" y="559612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Dr. Marco Sosa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Medicina Integrativa · Registro médico 050330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Antes de empezar: la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seguridad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 primero.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Supervisión profesional, fuentes verificadas y procedencia clara.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REGLAS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ideas que valen para 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Supervisión profesional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Ningún péptido se decide solo.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Fuente y pureza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Verifica el origen y el estatus legal.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Historia clínica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Edad, objetivos, medicamentos y contraindicaciones.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Ante algo raro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Suspende y consulta: se conoce poco en humanos.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LO QUE VAMOS A 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Tres módulos en 90 minutos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Bases científicas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18128"/>
            <a:ext cx="2954426" cy="1329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Qué es un péptido, cómo actúa y cómo leer la evidencia.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8634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8634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Metabolismo y peso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3818128"/>
            <a:ext cx="2954426" cy="1329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Incretinas, peso y composición corporal.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Reparación y protección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818128"/>
            <a:ext cx="2954426" cy="1329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Qué se sabe, qué no y qué dice la norma.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Bases científicas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Qué es un péptido y cómo se comunica.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23462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2346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Al terminar este módulo podrás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Distinguir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Péptido, proteína, aminoácido y hormona.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Entender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Cómo habla un péptido con la célula.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Ubicar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Un hallazgo en la pirámide de evidencia.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Leer con criterio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Un estudio o una afirmación comercial.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Un péptido es una cadena de aminoácidos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6583680" cy="3657600"/>
          </a:xfrm>
          <a:prstGeom prst="roundRect">
            <a:avLst>
              <a:gd name="adj" fmla="val 2000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dena_peptid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375863"/>
            <a:ext cx="6400800" cy="32949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2286000"/>
            <a:ext cx="387065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Unidos por enlaces peptídicos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Cadena corta: de 2 a unos 50 aminoácidos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La secuencia decide la forma y la función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mon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DIFERENCIAS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Aminoácido, péptido y proteína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Aminoácido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La unidad: 20 estándar.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Péptido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Cadena corta unida por enlaces peptídicos.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Proteína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Cadena larga, plegada y estable.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93890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3890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TAMAÑO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Dónde termina un péptido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 i="0">
                <a:solidFill>
                  <a:srgbClr val="1F5142"/>
                </a:solidFill>
                <a:latin typeface="Fraunces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aminoácidos: el límite que usa la FDA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423160"/>
            <a:ext cx="560801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Hasta 40: se regula como fármaco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41 o más: producto biológico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Oligopéptidos: menos de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10.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53033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5303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CÓMO SE 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La cadena nace en el ribosoma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dena_polipeptid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384926"/>
            <a:ext cx="5852159" cy="3276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2286000"/>
            <a:ext cx="441929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El ARN mensajero lleva la receta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El ribosoma une aminoácidos uno a uno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Resultado: una cadena polipeptídica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mon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13605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360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Hitos de los péptidos terapéuticos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1922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Insulina: primer péptido terapéutico.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1953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Se sintetiza la oxitocina.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1997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Sermorelina, primer secretagogo de GH aprobado.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2005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Exenatida, primer agonista de GLP-1.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2014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Liraglutida para el manejo del peso.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13 y 14. Fechas por confirmar.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93890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3890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ORIGEN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Endógeno y sintético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Péptido endógeno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Lo produce el cuerpo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Insulina, oxitocina, glutatión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Péptido sintético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fabrica en laboratorio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Copia exacta o análogo modificado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16.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43176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43176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CÓMO ACTÚAN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Del receptor a la respuesta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6035040" cy="3657600"/>
          </a:xfrm>
          <a:prstGeom prst="roundRect">
            <a:avLst>
              <a:gd name="adj" fmla="val 2000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e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36" y="2286000"/>
            <a:ext cx="5653927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2286000"/>
            <a:ext cx="4419295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1. Se une al receptor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2. Activa una señal dentro de la célula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1F5142"/>
              </a:buClr>
              <a:buFont typeface="Arial"/>
              <a:buChar char="■"/>
            </a:pPr>
            <a:r>
              <a:rPr sz="1700" b="0" i="0">
                <a:solidFill>
                  <a:srgbClr val="15261F"/>
                </a:solidFill>
                <a:latin typeface="Archivo"/>
              </a:rPr>
              <a:t>3. Aparece la respuesta biológica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mono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RECEPTORES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Agonista y antagonista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Agonista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Se une y activa el receptor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Imita o potencia la señal natural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Antagonista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une y lo bloquea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Frena la señal sin activarla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20.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53033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5303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DÓNDE ACTÚAN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Los cuatro niveles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Membrana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Receptores de superficie: donde actúan casi todos.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Citoplasma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Modulan vías internas de la célula.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Mitocondria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Investigación en péptidos mitocondriales.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Núcleo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Investigación en péptidos que modulan genes.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19.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2318918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31891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ESCRÍBELO EN EL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607040" cy="2468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¿Un péptido es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más seguro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 solo por ser «natural»?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069080"/>
            <a:ext cx="1689811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68981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9EE"/>
                </a:solidFill>
                <a:latin typeface="Archivo"/>
              </a:rPr>
              <a:t>Sí, siempre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58491" y="4069080"/>
            <a:ext cx="4818888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58491" y="4069080"/>
            <a:ext cx="481888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9EE"/>
                </a:solidFill>
                <a:latin typeface="Archivo"/>
              </a:rPr>
              <a:t>Depende de la molécula y de la evidencia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5979" y="4069080"/>
            <a:ext cx="1042416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5979" y="4069080"/>
            <a:ext cx="104241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9EE"/>
                </a:solidFill>
                <a:latin typeface="Archivo"/>
              </a:rPr>
              <a:t>No 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BAFA4"/>
                </a:solidFill>
                <a:latin typeface="Archivo"/>
              </a:rPr>
              <a:t>El Dr. Marco responde las que alcance.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Evidencia y norma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Cómo no dejarse engañar.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41749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4174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PIRÁMIDE DE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No toda evidencia pesa igual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Célula (in vitro)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Sugiere un mecanismo posible.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Animal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Sugiere un efecto en un organismo.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Ensayo en humanos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Estima si es real, relevante y seguro.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29.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ENSAYOS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Las fases en humanos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Decenas de voluntarios: seguridad y tolerabilidad.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Cientos: eficacia preliminar.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Fase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Cientos a miles: confirma eficacia y seguridad.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5261F"/>
                </a:solidFill>
                <a:latin typeface="Archivo"/>
              </a:rPr>
              <a:t>Fase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3554C"/>
                </a:solidFill>
                <a:latin typeface="Archivo"/>
              </a:rPr>
              <a:t>Tras la aprobación: seguridad a largo plazo.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30.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22034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2203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ESTATUS REGULATORIO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Tres situaciones que el marketing mezcla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Uso aprobado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2954426" cy="2196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El compuesto y la indicación pasaron todo el proceso.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Fuera de indicación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51480"/>
            <a:ext cx="2954426" cy="2196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Aprobado para otra cosa; lo decide el médico.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Experimental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51480"/>
            <a:ext cx="2954426" cy="2196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Sin aprobación para humanos; la venta legítima es para investigación.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35.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Sin patente no hay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estudios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. Eso no significa que sea seguro.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Se patentan los análogos, las formulaciones y los usos; el vacío regulatorio no es sinónimo de seguridad.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SEÑALES DE ALERTA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Cómo se reconoce una promesa engañosa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De ratones a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1508"/>
            <a:ext cx="2954426" cy="81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Extrapolar un resultado animal.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Estudios sin referencia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21508"/>
            <a:ext cx="2954426" cy="81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Foros o tiendas en lugar de publicaciones.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Testimonios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21508"/>
            <a:ext cx="2954426" cy="81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Contarlos como si fueran evidencia clínica.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97096"/>
            <a:ext cx="3466490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2569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Sin datos a largo plazo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78324"/>
            <a:ext cx="2954426" cy="81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Presentarlo como si fuera seguridad.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197096"/>
            <a:ext cx="3466490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2569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Resultados garantizados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878324"/>
            <a:ext cx="2954426" cy="81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Sin ensayos de fase 3 en esa indicación.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37.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Un certificado de análisis no garantiza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pureza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 ni seguridad.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Tampoco que el producto pueda usarse en humanos.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41749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4174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LISTA DE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9EE"/>
                </a:solidFill>
                <a:latin typeface="Fraunces"/>
              </a:rPr>
              <a:t>Antes de decidir, pregúntate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Evidencia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¿Qué nivel tiene para esa indicación concreta?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¿Hay una opción aprobada con evidencia más sólida?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El paciente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¿Embarazo, edad, medicamentos o enfermedades?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Historia clínica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¿Revisé laboratorios recientes?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La fuente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¿Es transparente sobre su estatus legal?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BAFA4"/>
                </a:solidFill>
                <a:latin typeface="Archivo"/>
              </a:rPr>
              <a:t>Fuente: presentación del Dr. Marco, diap. 39.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62891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62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Cómo se agrupan los péptidos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Hormonales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Estimulan el propio eje a producir más hormona.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Bioactivos y regenerativos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Imitan fragmentos naturales del cuerpo.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Neuropéptidos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Modulan el sistema nervioso.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Mitocondriales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Actúan en la mitocondria.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Epigenéticos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Modulan la expresión de genes.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Metabólicos e incretínicos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5163820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Regulan glucosa, saciedad y peso.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33 y 34.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Metabolismo y composición corporal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Incretinas, peso y músculo.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SISTEMA INCRETINA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Del bocado a la saciedad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302687" cy="2194560"/>
          </a:xfrm>
          <a:prstGeom prst="roundRect">
            <a:avLst>
              <a:gd name="adj" fmla="val 3333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845487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Los nutrientes llegan al intestino.</a:t>
            </a:r>
          </a:p>
        </p:txBody>
      </p:sp>
      <p:sp>
        <p:nvSpPr>
          <p:cNvPr id="8" name="Freeform 7"/>
          <p:cNvSpPr/>
          <p:nvPr/>
        </p:nvSpPr>
        <p:spPr>
          <a:xfrm>
            <a:off x="3070783" y="32004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9695" y="2377440"/>
            <a:ext cx="2302687" cy="2194560"/>
          </a:xfrm>
          <a:prstGeom prst="roundRect">
            <a:avLst>
              <a:gd name="adj" fmla="val 3333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8295" y="256032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Intestino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8295" y="3291840"/>
            <a:ext cx="1845487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Libera GLP-1 y GIP.</a:t>
            </a:r>
          </a:p>
        </p:txBody>
      </p:sp>
      <p:sp>
        <p:nvSpPr>
          <p:cNvPr id="12" name="Freeform 11"/>
          <p:cNvSpPr/>
          <p:nvPr/>
        </p:nvSpPr>
        <p:spPr>
          <a:xfrm>
            <a:off x="5940399" y="32004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9311" y="2377440"/>
            <a:ext cx="2302687" cy="2194560"/>
          </a:xfrm>
          <a:prstGeom prst="roundRect">
            <a:avLst>
              <a:gd name="adj" fmla="val 3333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7911" y="256032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Páncreas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911" y="3291840"/>
            <a:ext cx="1845487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Más insulina cuando hace falta; menos glucagón.</a:t>
            </a:r>
          </a:p>
        </p:txBody>
      </p:sp>
      <p:sp>
        <p:nvSpPr>
          <p:cNvPr id="16" name="Freeform 15"/>
          <p:cNvSpPr/>
          <p:nvPr/>
        </p:nvSpPr>
        <p:spPr>
          <a:xfrm>
            <a:off x="8810015" y="32004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48927" y="2377440"/>
            <a:ext cx="2302687" cy="2194560"/>
          </a:xfrm>
          <a:prstGeom prst="roundRect">
            <a:avLst>
              <a:gd name="adj" fmla="val 3333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7527" y="256032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Cerebro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7527" y="3291840"/>
            <a:ext cx="1845487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9EE"/>
                </a:solidFill>
                <a:latin typeface="Archivo"/>
              </a:rPr>
              <a:t>Menos apetito y más saciedad.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51 y 58.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SEGÚN EL DR.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GLP-1 y leptina trabajan juntos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En la obesidad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Leptina alta, con resistencia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Menos GLP-1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El cerebro deja de sentir saciedad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Con análogos de GLP-1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amplifica la señal de saciedad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Se plantea mejor sensibilidad a la leptina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Contrarrestan la señal de «hambruna»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53 a 59. La mejora de la sensibilidad a la leptina es una hipótesis.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51606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51606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QUÉ HACEN LOS ANÁLOGOS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efectos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Más insulina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Solo cuando la glucosa está alta.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Menos glucagón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Ayuda a bajar el azúcar.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Estómago más lento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La llenura dura más.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Menos apetito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Actúan sobre el hipotálamo.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58.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81178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8117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CON REGISTRO PARA EL PESO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Tres péptidos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Semaglutida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GLP-1. Semanal inyectable u 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Liraglutida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GLP-1. Una inyección diaria.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Tirzepatida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GIP y GLP-1: agonista dual. Semanal.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y presentación del Dr. Marco Sosa.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41749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4174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RESULTADOS EN ENSAYOS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esperar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Semaglutida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Cerca de 15 % del peso a 68 semanas.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Tirzepatida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Entre 15 % y 21 % a 72 semanas, según la dosis.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Liraglutida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Cerca de 8 % a 56 semanas.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ensayos STEP 1, SURMOUNT-1 y SCALE (PMID 33567185, 35658024, 26132939).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727484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727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DOSIS DE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Siempre con titulación gradual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Semaglutida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Empieza en 0,25 mg semanales; sube cada 4 semanas hasta 2,4 mg o 1,7 mg.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Tirzepatida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Empieza en 2,5 mg semanales; sube de 2,5 en 2,5 mg; máximo 15 mg.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108960"/>
          </a:xfrm>
          <a:prstGeom prst="roundRect">
            <a:avLst>
              <a:gd name="adj" fmla="val 235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3F33"/>
                </a:solidFill>
                <a:latin typeface="Archivo"/>
              </a:rPr>
              <a:t>Liraglutida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81452"/>
            <a:ext cx="2954426" cy="216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Empieza en 0,6 mg al día; sube cada semana hasta 3 mg.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FDA de Wegovy, Zepbound y Saxenda. Verificar la ficha del país.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23462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2346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Contraindicaciones y precauciones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No usar 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36494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Cáncer medular de tiroides o MEN 2 (personal o familiar); alergia grave.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Páncreas y vesícula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36494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Pancreatitis previa, cálculos.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7141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Ojos y riñón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39030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Retinopatía en diabetes; deshidratación por vómito.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7141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Otras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39030"/>
            <a:ext cx="4815687" cy="84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Embarazo, sedación programada, insulina o sulfonilureas.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fichas oficiales de la FDA y presentación del Dr. Marco Sosa.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SEÑALES DE ALARMA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Cuándo consultar o ir a urgencias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Dolor fuerte de abdomen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Puede irse a la espalda: pancreatitis.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Cara o garganta hinchadas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Dificultad para respirar: alergia grave.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19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Vómito o diarrea sin parar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61284"/>
            <a:ext cx="2954426" cy="6243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Deshidratación y riñón.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Pérdida súbita de visión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Muy rara con semaglutida.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Bulto en el cuello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Dificultad para tragar o ronquera.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364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73F33"/>
                </a:solidFill>
                <a:latin typeface="Archivo"/>
              </a:rPr>
              <a:t>Ánimo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4909058"/>
            <a:ext cx="2954426" cy="879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Tristeza profunda o ideas de hacerse daño.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Fuentes: fichas FDA y comunicado del PRAC de la EMA.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4881798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88179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RETATRUTIDA · EN INVESTIGACIÓN, SIN APROBACIÓN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Las dos formas de medir la pérdida de peso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Estimando de eficacia (titular)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Solo quienes siguen el tratamiento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12 mg: −28,7 %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9 mg: −26,4 %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Placebo: −2,1 %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Régimen de tratamiento (todos)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Todos los participantes, sigan o no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12 mg: −23,7 %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9 mg: −20,0 %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Placebo: −4,6 %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TRIUMPH-4: obesidad y artrosis de rodilla, 68 semanas. Resultados preliminares (HCPLive, Rheum Live). TRIUMPH-1, 80 semanas: 12 mg −25,0 %.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La pérdida de peso también se lleva algo de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músculo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Proteína en cada comida y entrenamiento de fuerza.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50178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5017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EJE DE LA HORMONA DE CRECIMIENTO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respaldan las fuentes oficiales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Tesamorelina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Aprobada solo para la grasa abdominal en VIH. No es para manejar el peso.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Sermorelina y mecasermina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Uso pediátrico por déficit de GH o de IGF-1.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3291840"/>
          </a:xfrm>
          <a:prstGeom prst="roundRect">
            <a:avLst>
              <a:gd name="adj" fmla="val 222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Otros secretagogos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91256"/>
            <a:ext cx="2954426" cy="2139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Sin aprobación; sin ensayos que respalden su uso en obesidad.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ficha FDA de Egrifta; presentación del Dr. Marco, diap. 76 a 90.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SEGÚN EL DR.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fases del manejo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1. 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Valoración, contraindicaciones y hábitos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2. Intensificación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Dosis baja y escalada; 1 a 2 kg por 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3. Transición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Meseta y dosis de mantenimiento.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4. Mantenimiento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Seguimiento y hábitos; muchas veces se continúa.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60 a 63.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Reparación y protección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Solo concepto, evidencia y estatus.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Aquí casi todo está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sin aprobación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Solo la timosina alfa-1 tiene registro en algún país; ninguno, en la FDA.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62891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62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CICATRIZACIÓN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fases superpuestas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Hemostasia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Se detiene el sangrado.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Inflamación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Limpia y alerta al tejido.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Proliferación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Se forman vasos y tejido nuevo.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Remodelación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El tejido madura.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111 y 112.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727484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727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LO QUE SABEMOS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Péptidos de reparación: evidencia y estatus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BPC-157 y TB-500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36494"/>
            <a:ext cx="4815687" cy="80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Casi solo estudios en animales; sin ensayos de fase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GHK-Cu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36494"/>
            <a:ext cx="4815687" cy="80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Cosmético tópico sí; inyectable no aprobado como fármaco.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Timosina alfa-1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893310"/>
            <a:ext cx="4815687" cy="80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Aprobada en algunos países para otros usos.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394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KPV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893310"/>
            <a:ext cx="4815687" cy="80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Evidencia preclínica; sin ensayos en humanos.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94 a 120.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POR QUÉ LA CAUTELA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razones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Datos humanos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Muy pocos y sin grupo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Pureza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51480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Variable entre proveedores.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Sin dosis aprobadas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Ninguna indicación oficial.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197096"/>
            <a:ext cx="5327751" cy="1700784"/>
          </a:xfrm>
          <a:prstGeom prst="roundRect">
            <a:avLst>
              <a:gd name="adj" fmla="val 430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25696"/>
            <a:ext cx="481568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Sin vigilancia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8296"/>
            <a:ext cx="4815687" cy="788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Producto no regulado.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Antes, durante y después.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ANTES DE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Evaluación previa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Sueño y ritmo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1508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Cómo duerme.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Metabolismo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2921508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Glucemia y HOMA-IR.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Hígado y riñón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2921508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Transaminasas, creatinina.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Nutrición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Vitamina D, zinc, magnesio, IMC y composición.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Salud 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Ansiedad y estrés.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Otras condiciones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Biomarcadores según la historia.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47.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CONTRAINDICACIONES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9EE"/>
                </a:solidFill>
                <a:latin typeface="Fraunces"/>
              </a:rPr>
              <a:t>Cuándo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Cáncer activo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Cualquier neoplasia sin tratar.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Embarazo y lactancia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No se recomienda.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Autoinmunes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Enfermedades descompensadas.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Proliferativos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9BAFA4"/>
                </a:solidFill>
                <a:latin typeface="Archivo"/>
              </a:rPr>
              <a:t>Estados activos sin control médico.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BAFA4"/>
                </a:solidFill>
                <a:latin typeface="Archivo"/>
              </a:rPr>
              <a:t>Fuente: presentación del Dr. Marco, diap. 48.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SEÑALES DE ALARMA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Suspender y consultar si aparece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Alergia grave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91256"/>
            <a:ext cx="2954426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Hinchazón de cara o garganta, dificultad para respirar.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2602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8634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Dolor de pecho o desmayo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8634" y="3191256"/>
            <a:ext cx="2954426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Posible evento cardiovascular.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2240280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1156" y="2468880"/>
            <a:ext cx="295442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Dolor de abdomen intenso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1156" y="3191256"/>
            <a:ext cx="2954426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Posible complicación digestiva.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Infección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Enrojecimiento, calor, pus en el sitio.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8634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Cambios visuales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Súbitos: posible daño del nervio óptico.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5124" y="4242816"/>
            <a:ext cx="3466490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1156" y="4471416"/>
            <a:ext cx="2954426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Dolor muscular fuerte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4924044"/>
            <a:ext cx="2954426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Posible daño del músculo.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Fuente: presentación del Dr. Marco, diap. 40 y 41.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53033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5303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9EE"/>
                </a:solidFill>
                <a:latin typeface="Fraunces"/>
              </a:rPr>
              <a:t>Cuatro ideas para llevarte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Péptido no es sinónimo de seguro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Cada molécula tiene su evidencia.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Mira el estatus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Aprobado, fuera de indicación o experimental.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Pide la fuente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Evidencia humana y producto con registro.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Siempre con un médico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9BAFA4"/>
                </a:solidFill>
                <a:latin typeface="Archivo"/>
              </a:rPr>
              <a:t>Y con el plan de estilo de vida.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9EE"/>
                </a:solidFill>
                <a:latin typeface="Fraunces"/>
              </a:rPr>
              <a:t>Gracias por acompañarnos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Esta clase es informativa y educativa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Los medicamentos mencionados son de prescripción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Verifica siempre el registro en tu país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908273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BAFA4"/>
                </a:solidFill>
                <a:latin typeface="Archivo"/>
              </a:rPr>
              <a:t>Las masterclasses son informativas y educativas. No constituyen diagnóstico, tratamiento ni prescripción personalizada, y no reemplazan la consulta médica. El Dr. Marco Sosa es Director Científico de Lumineight y percibe una participación sobre sus ventas; se declara para que lo tengas en cuenta al valorar lo que escuches.</a:t>
            </a:r>
          </a:p>
        </p:txBody>
      </p:sp>
      <p:sp>
        <p:nvSpPr>
          <p:cNvPr id="6" name="Oval 5"/>
          <p:cNvSpPr/>
          <p:nvPr/>
        </p:nvSpPr>
        <p:spPr>
          <a:xfrm>
            <a:off x="10500055" y="4773168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llo-red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932" y="4809744"/>
            <a:ext cx="733806" cy="97840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Péptidos: qué son y para qué se usan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49 /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